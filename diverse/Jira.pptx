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9CDED4-37D8-3EE4-F819-DDC780AB2DCD}" name="Florin-Ioan SUBŢIRICĂ (123781)" initials="FS" userId="S::florin.subtirica@stud.acs.upb.ro::43132631-b52f-408f-886a-f88aa68e25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C9AFDA-5425-4FDE-AF50-BB846EC04B94}" v="8" dt="2024-10-30T21:53:51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2107" autoAdjust="0"/>
  </p:normalViewPr>
  <p:slideViewPr>
    <p:cSldViewPr snapToGrid="0">
      <p:cViewPr varScale="1">
        <p:scale>
          <a:sx n="68" d="100"/>
          <a:sy n="68" d="100"/>
        </p:scale>
        <p:origin x="22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microsoft.com/office/2018/10/relationships/authors" Target="author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microsoft.com/office/2015/10/relationships/revisionInfo" Target="revisionInfo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microsoft.com/office/2016/11/relationships/changesInfo" Target="changesInfos/changesInfo1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n-Ioan SUBŢIRICĂ (123781)" userId="43132631-b52f-408f-886a-f88aa68e2550" providerId="ADAL" clId="{3FC9AFDA-5425-4FDE-AF50-BB846EC04B94}"/>
    <pc:docChg chg="undo custSel modSld">
      <pc:chgData name="Florin-Ioan SUBŢIRICĂ (123781)" userId="43132631-b52f-408f-886a-f88aa68e2550" providerId="ADAL" clId="{3FC9AFDA-5425-4FDE-AF50-BB846EC04B94}" dt="2024-10-30T22:06:32.634" v="482" actId="113"/>
      <pc:docMkLst>
        <pc:docMk/>
      </pc:docMkLst>
      <pc:sldChg chg="modSp mod modNotesTx">
        <pc:chgData name="Florin-Ioan SUBŢIRICĂ (123781)" userId="43132631-b52f-408f-886a-f88aa68e2550" providerId="ADAL" clId="{3FC9AFDA-5425-4FDE-AF50-BB846EC04B94}" dt="2024-10-30T22:06:32.634" v="482" actId="113"/>
        <pc:sldMkLst>
          <pc:docMk/>
          <pc:sldMk cId="2445314831" sldId="257"/>
        </pc:sldMkLst>
        <pc:graphicFrameChg chg="mod">
          <ac:chgData name="Florin-Ioan SUBŢIRICĂ (123781)" userId="43132631-b52f-408f-886a-f88aa68e2550" providerId="ADAL" clId="{3FC9AFDA-5425-4FDE-AF50-BB846EC04B94}" dt="2024-10-30T21:44:33.082" v="60" actId="1076"/>
          <ac:graphicFrameMkLst>
            <pc:docMk/>
            <pc:sldMk cId="2445314831" sldId="257"/>
            <ac:graphicFrameMk id="19" creationId="{C709DDBF-7307-6771-D4DB-9B136D71FF11}"/>
          </ac:graphicFrameMkLst>
        </pc:graphicFrameChg>
        <pc:picChg chg="mod">
          <ac:chgData name="Florin-Ioan SUBŢIRICĂ (123781)" userId="43132631-b52f-408f-886a-f88aa68e2550" providerId="ADAL" clId="{3FC9AFDA-5425-4FDE-AF50-BB846EC04B94}" dt="2024-10-30T21:45:14.312" v="66" actId="1076"/>
          <ac:picMkLst>
            <pc:docMk/>
            <pc:sldMk cId="2445314831" sldId="257"/>
            <ac:picMk id="1040" creationId="{CC662F47-717E-C0F6-E41D-921531825254}"/>
          </ac:picMkLst>
        </pc:picChg>
      </pc:sldChg>
      <pc:sldChg chg="addSp delSp modSp mod modClrScheme delDesignElem chgLayout">
        <pc:chgData name="Florin-Ioan SUBŢIRICĂ (123781)" userId="43132631-b52f-408f-886a-f88aa68e2550" providerId="ADAL" clId="{3FC9AFDA-5425-4FDE-AF50-BB846EC04B94}" dt="2024-10-30T21:38:23.799" v="2" actId="26606"/>
        <pc:sldMkLst>
          <pc:docMk/>
          <pc:sldMk cId="2145184548" sldId="260"/>
        </pc:sldMkLst>
        <pc:spChg chg="mod or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2" creationId="{7F0884CB-02DD-CABD-D394-E47AF55C0C5A}"/>
          </ac:spMkLst>
        </pc:spChg>
        <pc:spChg chg="add mod or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3" creationId="{E9378D3D-A79B-9082-64E2-7A08C72FD76F}"/>
          </ac:spMkLst>
        </pc:spChg>
        <pc:spChg chg="ad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8" creationId="{CEDBC09E-10FE-C48A-8AE5-2DE3D7D705D6}"/>
          </ac:spMkLst>
        </pc:spChg>
        <pc:spChg chg="ad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10" creationId="{31EBD83C-D653-7B6E-791C-91DC49F82E50}"/>
          </ac:spMkLst>
        </pc:spChg>
        <pc:spChg chg="add">
          <ac:chgData name="Florin-Ioan SUBŢIRICĂ (123781)" userId="43132631-b52f-408f-886a-f88aa68e2550" providerId="ADAL" clId="{3FC9AFDA-5425-4FDE-AF50-BB846EC04B94}" dt="2024-10-30T21:38:23.799" v="2" actId="26606"/>
          <ac:spMkLst>
            <pc:docMk/>
            <pc:sldMk cId="2145184548" sldId="260"/>
            <ac:spMk id="12" creationId="{28B09CB6-CBCC-A221-E35E-4FA215926078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58" creationId="{28B09CB6-CBCC-A221-E35E-4FA215926078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59" creationId="{ADE57300-C7FF-4578-99A0-42B0295B123C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0" creationId="{DB8F8250-7A81-4A19-87AD-FFB2CE4E39A5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1" creationId="{499F38FC-2DEA-2647-C409-EF75720C1017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2" creationId="{26E9A97B-1917-9176-B980-E15E8CBDB12F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3" creationId="{F3FF94B3-6D3E-44FE-BB02-A9027C0003C7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4" creationId="{CEDBC09E-10FE-C48A-8AE5-2DE3D7D705D6}"/>
          </ac:spMkLst>
        </pc:spChg>
        <pc:spChg chg="del">
          <ac:chgData name="Florin-Ioan SUBŢIRICĂ (123781)" userId="43132631-b52f-408f-886a-f88aa68e2550" providerId="ADAL" clId="{3FC9AFDA-5425-4FDE-AF50-BB846EC04B94}" dt="2024-10-30T21:37:59.573" v="0" actId="700"/>
          <ac:spMkLst>
            <pc:docMk/>
            <pc:sldMk cId="2145184548" sldId="260"/>
            <ac:spMk id="65" creationId="{31EBD83C-D653-7B6E-791C-91DC49F82E50}"/>
          </ac:spMkLst>
        </pc:spChg>
      </pc:sldChg>
    </pc:docChg>
  </pc:docChgLst>
  <pc:docChgLst>
    <pc:chgData name="Florin-Ioan SUBŢIRICĂ (123781)" userId="43132631-b52f-408f-886a-f88aa68e2550" providerId="ADAL" clId="{064F326B-8975-754A-9D49-1EE26FCD08B6}"/>
    <pc:docChg chg="modSld">
      <pc:chgData name="Florin-Ioan SUBŢIRICĂ (123781)" userId="43132631-b52f-408f-886a-f88aa68e2550" providerId="ADAL" clId="{064F326B-8975-754A-9D49-1EE26FCD08B6}" dt="2024-10-31T06:07:47.841" v="2" actId="5793"/>
      <pc:docMkLst>
        <pc:docMk/>
      </pc:docMkLst>
      <pc:sldChg chg="modNotesTx">
        <pc:chgData name="Florin-Ioan SUBŢIRICĂ (123781)" userId="43132631-b52f-408f-886a-f88aa68e2550" providerId="ADAL" clId="{064F326B-8975-754A-9D49-1EE26FCD08B6}" dt="2024-10-31T06:07:47.841" v="2" actId="5793"/>
        <pc:sldMkLst>
          <pc:docMk/>
          <pc:sldMk cId="2445314831" sldId="25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A38FB5-EB7D-4303-9D01-97353390DA2F}" type="doc">
      <dgm:prSet loTypeId="urn:microsoft.com/office/officeart/2005/8/layout/vProcess5" loCatId="process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193D508E-1E05-4916-80E4-A83AD8110181}">
      <dgm:prSet/>
      <dgm:spPr/>
      <dgm:t>
        <a:bodyPr/>
        <a:lstStyle/>
        <a:p>
          <a:r>
            <a:rPr lang="en-US" dirty="0"/>
            <a:t>Jira </a:t>
          </a:r>
          <a:r>
            <a:rPr lang="en-US" dirty="0" err="1"/>
            <a:t>este</a:t>
          </a:r>
          <a:r>
            <a:rPr lang="en-US" dirty="0"/>
            <a:t> un instrument </a:t>
          </a:r>
          <a:r>
            <a:rPr lang="en-US" dirty="0" err="1"/>
            <a:t>dezvoltat</a:t>
          </a:r>
          <a:r>
            <a:rPr lang="en-US" dirty="0"/>
            <a:t> de </a:t>
          </a:r>
          <a:r>
            <a:rPr lang="en-US" b="1" dirty="0"/>
            <a:t>Atlassian</a:t>
          </a:r>
          <a:r>
            <a:rPr lang="en-US" dirty="0"/>
            <a:t>, </a:t>
          </a:r>
          <a:r>
            <a:rPr lang="en-US" dirty="0" err="1"/>
            <a:t>folosit</a:t>
          </a:r>
          <a:r>
            <a:rPr lang="en-US" dirty="0"/>
            <a:t> </a:t>
          </a:r>
          <a:r>
            <a:rPr lang="en-US" dirty="0" err="1"/>
            <a:t>pentru</a:t>
          </a:r>
          <a:r>
            <a:rPr lang="en-US" dirty="0"/>
            <a:t> </a:t>
          </a:r>
          <a:r>
            <a:rPr lang="en-US" dirty="0" err="1"/>
            <a:t>urmărirea</a:t>
          </a:r>
          <a:r>
            <a:rPr lang="en-US" dirty="0"/>
            <a:t> </a:t>
          </a:r>
          <a:r>
            <a:rPr lang="en-US" dirty="0" err="1"/>
            <a:t>sarcinilor</a:t>
          </a:r>
          <a:r>
            <a:rPr lang="en-US" dirty="0"/>
            <a:t> </a:t>
          </a:r>
          <a:r>
            <a:rPr lang="en-US" dirty="0" err="1"/>
            <a:t>și</a:t>
          </a:r>
          <a:r>
            <a:rPr lang="en-US" dirty="0"/>
            <a:t> </a:t>
          </a:r>
          <a:r>
            <a:rPr lang="en-US" dirty="0" err="1"/>
            <a:t>managementul</a:t>
          </a:r>
          <a:r>
            <a:rPr lang="en-US" dirty="0"/>
            <a:t> </a:t>
          </a:r>
          <a:r>
            <a:rPr lang="en-US" dirty="0" err="1"/>
            <a:t>proiectelor</a:t>
          </a:r>
          <a:r>
            <a:rPr lang="en-US" dirty="0"/>
            <a:t>.</a:t>
          </a:r>
        </a:p>
      </dgm:t>
    </dgm:pt>
    <dgm:pt modelId="{AB3640AE-2C64-44EF-8817-913A668EB632}" type="parTrans" cxnId="{A49D1800-536E-4635-AA02-6EBA47FD6170}">
      <dgm:prSet/>
      <dgm:spPr/>
      <dgm:t>
        <a:bodyPr/>
        <a:lstStyle/>
        <a:p>
          <a:endParaRPr lang="en-US"/>
        </a:p>
      </dgm:t>
    </dgm:pt>
    <dgm:pt modelId="{DC1188F9-D478-4E76-9245-77F2D66648DB}" type="sibTrans" cxnId="{A49D1800-536E-4635-AA02-6EBA47FD6170}">
      <dgm:prSet/>
      <dgm:spPr/>
      <dgm:t>
        <a:bodyPr/>
        <a:lstStyle/>
        <a:p>
          <a:endParaRPr lang="en-US"/>
        </a:p>
      </dgm:t>
    </dgm:pt>
    <dgm:pt modelId="{BB7A7BA3-2834-431E-8904-7B7521DF27C1}">
      <dgm:prSet/>
      <dgm:spPr/>
      <dgm:t>
        <a:bodyPr/>
        <a:lstStyle/>
        <a:p>
          <a:r>
            <a:rPr lang="pt-BR" dirty="0"/>
            <a:t>A devenit popular în echipele Agile pentru organizarea și monitorizarea lucrărilor de echipă.</a:t>
          </a:r>
          <a:endParaRPr lang="en-US" dirty="0"/>
        </a:p>
      </dgm:t>
    </dgm:pt>
    <dgm:pt modelId="{5D618A22-E986-4180-A730-F05480C2AB67}" type="parTrans" cxnId="{FADA956A-F6B3-404E-A973-2D261EC3907A}">
      <dgm:prSet/>
      <dgm:spPr/>
      <dgm:t>
        <a:bodyPr/>
        <a:lstStyle/>
        <a:p>
          <a:endParaRPr lang="en-US"/>
        </a:p>
      </dgm:t>
    </dgm:pt>
    <dgm:pt modelId="{C59E67E9-EEC1-468A-80F4-346918227944}" type="sibTrans" cxnId="{FADA956A-F6B3-404E-A973-2D261EC3907A}">
      <dgm:prSet/>
      <dgm:spPr/>
      <dgm:t>
        <a:bodyPr/>
        <a:lstStyle/>
        <a:p>
          <a:endParaRPr lang="en-US"/>
        </a:p>
      </dgm:t>
    </dgm:pt>
    <dgm:pt modelId="{5C4DEE15-19AB-4DC2-8FAB-2D0ECD9DBF60}" type="pres">
      <dgm:prSet presAssocID="{C8A38FB5-EB7D-4303-9D01-97353390DA2F}" presName="outerComposite" presStyleCnt="0">
        <dgm:presLayoutVars>
          <dgm:chMax val="5"/>
          <dgm:dir/>
          <dgm:resizeHandles val="exact"/>
        </dgm:presLayoutVars>
      </dgm:prSet>
      <dgm:spPr/>
    </dgm:pt>
    <dgm:pt modelId="{4FEE3597-83ED-4307-A655-2ADC6B9D7047}" type="pres">
      <dgm:prSet presAssocID="{C8A38FB5-EB7D-4303-9D01-97353390DA2F}" presName="dummyMaxCanvas" presStyleCnt="0">
        <dgm:presLayoutVars/>
      </dgm:prSet>
      <dgm:spPr/>
    </dgm:pt>
    <dgm:pt modelId="{87F9993D-8D4C-466F-ACE5-2662073D899F}" type="pres">
      <dgm:prSet presAssocID="{C8A38FB5-EB7D-4303-9D01-97353390DA2F}" presName="TwoNodes_1" presStyleLbl="node1" presStyleIdx="0" presStyleCnt="2">
        <dgm:presLayoutVars>
          <dgm:bulletEnabled val="1"/>
        </dgm:presLayoutVars>
      </dgm:prSet>
      <dgm:spPr/>
    </dgm:pt>
    <dgm:pt modelId="{57CF9067-00C8-49A8-8479-AAEA587735F7}" type="pres">
      <dgm:prSet presAssocID="{C8A38FB5-EB7D-4303-9D01-97353390DA2F}" presName="TwoNodes_2" presStyleLbl="node1" presStyleIdx="1" presStyleCnt="2">
        <dgm:presLayoutVars>
          <dgm:bulletEnabled val="1"/>
        </dgm:presLayoutVars>
      </dgm:prSet>
      <dgm:spPr/>
    </dgm:pt>
    <dgm:pt modelId="{B7B76598-73E1-43EE-A210-2DA68AB32E19}" type="pres">
      <dgm:prSet presAssocID="{C8A38FB5-EB7D-4303-9D01-97353390DA2F}" presName="TwoConn_1-2" presStyleLbl="fgAccFollowNode1" presStyleIdx="0" presStyleCnt="1">
        <dgm:presLayoutVars>
          <dgm:bulletEnabled val="1"/>
        </dgm:presLayoutVars>
      </dgm:prSet>
      <dgm:spPr/>
    </dgm:pt>
    <dgm:pt modelId="{08582C80-C152-4650-AB86-F7FBE7961194}" type="pres">
      <dgm:prSet presAssocID="{C8A38FB5-EB7D-4303-9D01-97353390DA2F}" presName="TwoNodes_1_text" presStyleLbl="node1" presStyleIdx="1" presStyleCnt="2">
        <dgm:presLayoutVars>
          <dgm:bulletEnabled val="1"/>
        </dgm:presLayoutVars>
      </dgm:prSet>
      <dgm:spPr/>
    </dgm:pt>
    <dgm:pt modelId="{43C73F26-C8DC-49E3-A837-1C4DA0FD62BB}" type="pres">
      <dgm:prSet presAssocID="{C8A38FB5-EB7D-4303-9D01-97353390DA2F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A49D1800-536E-4635-AA02-6EBA47FD6170}" srcId="{C8A38FB5-EB7D-4303-9D01-97353390DA2F}" destId="{193D508E-1E05-4916-80E4-A83AD8110181}" srcOrd="0" destOrd="0" parTransId="{AB3640AE-2C64-44EF-8817-913A668EB632}" sibTransId="{DC1188F9-D478-4E76-9245-77F2D66648DB}"/>
    <dgm:cxn modelId="{29783E07-5CF2-4F77-88E0-12C4C5C82523}" type="presOf" srcId="{193D508E-1E05-4916-80E4-A83AD8110181}" destId="{87F9993D-8D4C-466F-ACE5-2662073D899F}" srcOrd="0" destOrd="0" presId="urn:microsoft.com/office/officeart/2005/8/layout/vProcess5"/>
    <dgm:cxn modelId="{6C1BB737-F1E5-4557-9B0E-5D3C0AF58E88}" type="presOf" srcId="{BB7A7BA3-2834-431E-8904-7B7521DF27C1}" destId="{57CF9067-00C8-49A8-8479-AAEA587735F7}" srcOrd="0" destOrd="0" presId="urn:microsoft.com/office/officeart/2005/8/layout/vProcess5"/>
    <dgm:cxn modelId="{FADA956A-F6B3-404E-A973-2D261EC3907A}" srcId="{C8A38FB5-EB7D-4303-9D01-97353390DA2F}" destId="{BB7A7BA3-2834-431E-8904-7B7521DF27C1}" srcOrd="1" destOrd="0" parTransId="{5D618A22-E986-4180-A730-F05480C2AB67}" sibTransId="{C59E67E9-EEC1-468A-80F4-346918227944}"/>
    <dgm:cxn modelId="{283DE652-E45E-4829-988A-A1044357FD5E}" type="presOf" srcId="{DC1188F9-D478-4E76-9245-77F2D66648DB}" destId="{B7B76598-73E1-43EE-A210-2DA68AB32E19}" srcOrd="0" destOrd="0" presId="urn:microsoft.com/office/officeart/2005/8/layout/vProcess5"/>
    <dgm:cxn modelId="{92183399-4BFE-43EA-A980-8680664E18F6}" type="presOf" srcId="{BB7A7BA3-2834-431E-8904-7B7521DF27C1}" destId="{43C73F26-C8DC-49E3-A837-1C4DA0FD62BB}" srcOrd="1" destOrd="0" presId="urn:microsoft.com/office/officeart/2005/8/layout/vProcess5"/>
    <dgm:cxn modelId="{852AD5D2-5A2A-429C-873B-C66E5F2EC933}" type="presOf" srcId="{193D508E-1E05-4916-80E4-A83AD8110181}" destId="{08582C80-C152-4650-AB86-F7FBE7961194}" srcOrd="1" destOrd="0" presId="urn:microsoft.com/office/officeart/2005/8/layout/vProcess5"/>
    <dgm:cxn modelId="{621941F6-95B5-4323-96A8-EDC81B3373B4}" type="presOf" srcId="{C8A38FB5-EB7D-4303-9D01-97353390DA2F}" destId="{5C4DEE15-19AB-4DC2-8FAB-2D0ECD9DBF60}" srcOrd="0" destOrd="0" presId="urn:microsoft.com/office/officeart/2005/8/layout/vProcess5"/>
    <dgm:cxn modelId="{A9D75029-73B9-41AC-813A-309D61620ABA}" type="presParOf" srcId="{5C4DEE15-19AB-4DC2-8FAB-2D0ECD9DBF60}" destId="{4FEE3597-83ED-4307-A655-2ADC6B9D7047}" srcOrd="0" destOrd="0" presId="urn:microsoft.com/office/officeart/2005/8/layout/vProcess5"/>
    <dgm:cxn modelId="{E0C7DA6C-4A85-494A-9A8F-A589C3EAD583}" type="presParOf" srcId="{5C4DEE15-19AB-4DC2-8FAB-2D0ECD9DBF60}" destId="{87F9993D-8D4C-466F-ACE5-2662073D899F}" srcOrd="1" destOrd="0" presId="urn:microsoft.com/office/officeart/2005/8/layout/vProcess5"/>
    <dgm:cxn modelId="{BE8C1DDA-E835-48C4-82C0-3EA92EBF2750}" type="presParOf" srcId="{5C4DEE15-19AB-4DC2-8FAB-2D0ECD9DBF60}" destId="{57CF9067-00C8-49A8-8479-AAEA587735F7}" srcOrd="2" destOrd="0" presId="urn:microsoft.com/office/officeart/2005/8/layout/vProcess5"/>
    <dgm:cxn modelId="{DE43C3E9-3F79-4538-99AD-D7608C9F7D0A}" type="presParOf" srcId="{5C4DEE15-19AB-4DC2-8FAB-2D0ECD9DBF60}" destId="{B7B76598-73E1-43EE-A210-2DA68AB32E19}" srcOrd="3" destOrd="0" presId="urn:microsoft.com/office/officeart/2005/8/layout/vProcess5"/>
    <dgm:cxn modelId="{30584C6B-C1B4-4A0C-86CF-0AB09F77928D}" type="presParOf" srcId="{5C4DEE15-19AB-4DC2-8FAB-2D0ECD9DBF60}" destId="{08582C80-C152-4650-AB86-F7FBE7961194}" srcOrd="4" destOrd="0" presId="urn:microsoft.com/office/officeart/2005/8/layout/vProcess5"/>
    <dgm:cxn modelId="{7EA6492C-7D50-4377-B06C-1F1ACEAE5892}" type="presParOf" srcId="{5C4DEE15-19AB-4DC2-8FAB-2D0ECD9DBF60}" destId="{43C73F26-C8DC-49E3-A837-1C4DA0FD62BB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19F532-B471-4E57-BB47-99FF4EAD7E4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64AE90-14AE-4E47-8A00-B1AF145A74BC}">
      <dgm:prSet/>
      <dgm:spPr/>
      <dgm:t>
        <a:bodyPr/>
        <a:lstStyle/>
        <a:p>
          <a:r>
            <a:rPr lang="en-US" b="0" i="0" baseline="0"/>
            <a:t>Jira este folosit pentru gestionarea proiectelor prin </a:t>
          </a:r>
          <a:r>
            <a:rPr lang="en-US" b="1" i="0" baseline="0"/>
            <a:t>board-uri vizuale</a:t>
          </a:r>
          <a:r>
            <a:rPr lang="en-US" b="0" i="0" baseline="0"/>
            <a:t> și planificarea resurselor echipelor.</a:t>
          </a:r>
          <a:endParaRPr lang="en-US"/>
        </a:p>
      </dgm:t>
    </dgm:pt>
    <dgm:pt modelId="{355B76AC-9A2F-4BF2-801C-D84CAFA27CC3}" type="parTrans" cxnId="{476328F9-FA71-4248-B1D2-70EA2FD67518}">
      <dgm:prSet/>
      <dgm:spPr/>
      <dgm:t>
        <a:bodyPr/>
        <a:lstStyle/>
        <a:p>
          <a:endParaRPr lang="en-US"/>
        </a:p>
      </dgm:t>
    </dgm:pt>
    <dgm:pt modelId="{DC664F9B-E85C-430B-998F-8A97CF45A789}" type="sibTrans" cxnId="{476328F9-FA71-4248-B1D2-70EA2FD67518}">
      <dgm:prSet/>
      <dgm:spPr/>
      <dgm:t>
        <a:bodyPr/>
        <a:lstStyle/>
        <a:p>
          <a:endParaRPr lang="en-US"/>
        </a:p>
      </dgm:t>
    </dgm:pt>
    <dgm:pt modelId="{2AE5CA69-39CE-4610-A226-17139CF1C8F9}">
      <dgm:prSet/>
      <dgm:spPr/>
      <dgm:t>
        <a:bodyPr/>
        <a:lstStyle/>
        <a:p>
          <a:r>
            <a:rPr lang="en-US" b="1"/>
            <a:t>Kanban</a:t>
          </a:r>
          <a:r>
            <a:rPr lang="en-US"/>
            <a:t>: potrivit pentru fluxuri de lucru continue.</a:t>
          </a:r>
        </a:p>
      </dgm:t>
    </dgm:pt>
    <dgm:pt modelId="{F0FA06BD-47C6-416A-AA20-F9995247B28B}" type="parTrans" cxnId="{EA2C72E7-C805-49B2-824F-CDFBFF7A7748}">
      <dgm:prSet/>
      <dgm:spPr/>
      <dgm:t>
        <a:bodyPr/>
        <a:lstStyle/>
        <a:p>
          <a:endParaRPr lang="en-US"/>
        </a:p>
      </dgm:t>
    </dgm:pt>
    <dgm:pt modelId="{E83413A5-F355-4E26-88A9-F7229740F457}" type="sibTrans" cxnId="{EA2C72E7-C805-49B2-824F-CDFBFF7A7748}">
      <dgm:prSet/>
      <dgm:spPr/>
      <dgm:t>
        <a:bodyPr/>
        <a:lstStyle/>
        <a:p>
          <a:endParaRPr lang="en-US"/>
        </a:p>
      </dgm:t>
    </dgm:pt>
    <dgm:pt modelId="{C2518070-81B1-42E3-A844-9DC3360FAD75}">
      <dgm:prSet/>
      <dgm:spPr/>
      <dgm:t>
        <a:bodyPr/>
        <a:lstStyle/>
        <a:p>
          <a:r>
            <a:rPr lang="en-US" b="1"/>
            <a:t>Scrum</a:t>
          </a:r>
          <a:r>
            <a:rPr lang="en-US"/>
            <a:t>: ideal pentru proiectele desfășurate în sprinturi.</a:t>
          </a:r>
        </a:p>
      </dgm:t>
    </dgm:pt>
    <dgm:pt modelId="{1ECCCD87-BAFB-4B17-A2EE-C0498371C41D}" type="parTrans" cxnId="{AA9BE629-A601-492C-8B40-57029FAF9510}">
      <dgm:prSet/>
      <dgm:spPr/>
      <dgm:t>
        <a:bodyPr/>
        <a:lstStyle/>
        <a:p>
          <a:endParaRPr lang="en-US"/>
        </a:p>
      </dgm:t>
    </dgm:pt>
    <dgm:pt modelId="{D8BEFA8A-2B12-4C4C-9B06-A572324D6D96}" type="sibTrans" cxnId="{AA9BE629-A601-492C-8B40-57029FAF9510}">
      <dgm:prSet/>
      <dgm:spPr/>
      <dgm:t>
        <a:bodyPr/>
        <a:lstStyle/>
        <a:p>
          <a:endParaRPr lang="en-US"/>
        </a:p>
      </dgm:t>
    </dgm:pt>
    <dgm:pt modelId="{813B28B3-E491-48E6-B034-D6155CDC5C25}" type="pres">
      <dgm:prSet presAssocID="{3E19F532-B471-4E57-BB47-99FF4EAD7E4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83693F-27CC-48D6-B768-84C5854962BA}" type="pres">
      <dgm:prSet presAssocID="{D964AE90-14AE-4E47-8A00-B1AF145A74BC}" presName="hierRoot1" presStyleCnt="0"/>
      <dgm:spPr/>
    </dgm:pt>
    <dgm:pt modelId="{C6C48985-C84C-4785-9DA1-69480CD80384}" type="pres">
      <dgm:prSet presAssocID="{D964AE90-14AE-4E47-8A00-B1AF145A74BC}" presName="composite" presStyleCnt="0"/>
      <dgm:spPr/>
    </dgm:pt>
    <dgm:pt modelId="{9E4D38AB-55CE-4705-8E23-B5CE28F9D987}" type="pres">
      <dgm:prSet presAssocID="{D964AE90-14AE-4E47-8A00-B1AF145A74BC}" presName="background" presStyleLbl="node0" presStyleIdx="0" presStyleCnt="3"/>
      <dgm:spPr/>
    </dgm:pt>
    <dgm:pt modelId="{BC6B6957-967A-46B9-BE67-21707D391A87}" type="pres">
      <dgm:prSet presAssocID="{D964AE90-14AE-4E47-8A00-B1AF145A74BC}" presName="text" presStyleLbl="fgAcc0" presStyleIdx="0" presStyleCnt="3">
        <dgm:presLayoutVars>
          <dgm:chPref val="3"/>
        </dgm:presLayoutVars>
      </dgm:prSet>
      <dgm:spPr/>
    </dgm:pt>
    <dgm:pt modelId="{8F4AC1B8-913C-4CB1-89C4-7E2219DD2A97}" type="pres">
      <dgm:prSet presAssocID="{D964AE90-14AE-4E47-8A00-B1AF145A74BC}" presName="hierChild2" presStyleCnt="0"/>
      <dgm:spPr/>
    </dgm:pt>
    <dgm:pt modelId="{BB351F57-1888-41A5-867F-7CD88E4D1748}" type="pres">
      <dgm:prSet presAssocID="{2AE5CA69-39CE-4610-A226-17139CF1C8F9}" presName="hierRoot1" presStyleCnt="0"/>
      <dgm:spPr/>
    </dgm:pt>
    <dgm:pt modelId="{109A1553-1AC1-4BC2-93AF-1B6CDA804E10}" type="pres">
      <dgm:prSet presAssocID="{2AE5CA69-39CE-4610-A226-17139CF1C8F9}" presName="composite" presStyleCnt="0"/>
      <dgm:spPr/>
    </dgm:pt>
    <dgm:pt modelId="{F7167099-95C2-4459-AECC-C4FC4BBFDF4B}" type="pres">
      <dgm:prSet presAssocID="{2AE5CA69-39CE-4610-A226-17139CF1C8F9}" presName="background" presStyleLbl="node0" presStyleIdx="1" presStyleCnt="3"/>
      <dgm:spPr/>
    </dgm:pt>
    <dgm:pt modelId="{3B2FC920-CE7F-4E32-AE80-E0939187CC43}" type="pres">
      <dgm:prSet presAssocID="{2AE5CA69-39CE-4610-A226-17139CF1C8F9}" presName="text" presStyleLbl="fgAcc0" presStyleIdx="1" presStyleCnt="3">
        <dgm:presLayoutVars>
          <dgm:chPref val="3"/>
        </dgm:presLayoutVars>
      </dgm:prSet>
      <dgm:spPr/>
    </dgm:pt>
    <dgm:pt modelId="{29CDDA8D-3528-4F6E-B2AF-6958087B5327}" type="pres">
      <dgm:prSet presAssocID="{2AE5CA69-39CE-4610-A226-17139CF1C8F9}" presName="hierChild2" presStyleCnt="0"/>
      <dgm:spPr/>
    </dgm:pt>
    <dgm:pt modelId="{3A4DAEAA-330E-4A35-92A2-ACD3586DB8EC}" type="pres">
      <dgm:prSet presAssocID="{C2518070-81B1-42E3-A844-9DC3360FAD75}" presName="hierRoot1" presStyleCnt="0"/>
      <dgm:spPr/>
    </dgm:pt>
    <dgm:pt modelId="{C8C60452-A2E3-45B7-8D33-31498CF20ADC}" type="pres">
      <dgm:prSet presAssocID="{C2518070-81B1-42E3-A844-9DC3360FAD75}" presName="composite" presStyleCnt="0"/>
      <dgm:spPr/>
    </dgm:pt>
    <dgm:pt modelId="{7E96A854-C13D-4C59-85C6-BDA8B76A4D7B}" type="pres">
      <dgm:prSet presAssocID="{C2518070-81B1-42E3-A844-9DC3360FAD75}" presName="background" presStyleLbl="node0" presStyleIdx="2" presStyleCnt="3"/>
      <dgm:spPr/>
    </dgm:pt>
    <dgm:pt modelId="{9FC27015-B40E-463D-9C45-4FA015A58BD5}" type="pres">
      <dgm:prSet presAssocID="{C2518070-81B1-42E3-A844-9DC3360FAD75}" presName="text" presStyleLbl="fgAcc0" presStyleIdx="2" presStyleCnt="3">
        <dgm:presLayoutVars>
          <dgm:chPref val="3"/>
        </dgm:presLayoutVars>
      </dgm:prSet>
      <dgm:spPr/>
    </dgm:pt>
    <dgm:pt modelId="{9E7C0440-CFD4-46CA-93DD-0634C74AF638}" type="pres">
      <dgm:prSet presAssocID="{C2518070-81B1-42E3-A844-9DC3360FAD75}" presName="hierChild2" presStyleCnt="0"/>
      <dgm:spPr/>
    </dgm:pt>
  </dgm:ptLst>
  <dgm:cxnLst>
    <dgm:cxn modelId="{AA9BE629-A601-492C-8B40-57029FAF9510}" srcId="{3E19F532-B471-4E57-BB47-99FF4EAD7E4C}" destId="{C2518070-81B1-42E3-A844-9DC3360FAD75}" srcOrd="2" destOrd="0" parTransId="{1ECCCD87-BAFB-4B17-A2EE-C0498371C41D}" sibTransId="{D8BEFA8A-2B12-4C4C-9B06-A572324D6D96}"/>
    <dgm:cxn modelId="{6729D639-6978-47E7-AB2E-7A77C5A170B6}" type="presOf" srcId="{3E19F532-B471-4E57-BB47-99FF4EAD7E4C}" destId="{813B28B3-E491-48E6-B034-D6155CDC5C25}" srcOrd="0" destOrd="0" presId="urn:microsoft.com/office/officeart/2005/8/layout/hierarchy1"/>
    <dgm:cxn modelId="{AD74E351-517C-4383-A035-DCB5705D36B8}" type="presOf" srcId="{2AE5CA69-39CE-4610-A226-17139CF1C8F9}" destId="{3B2FC920-CE7F-4E32-AE80-E0939187CC43}" srcOrd="0" destOrd="0" presId="urn:microsoft.com/office/officeart/2005/8/layout/hierarchy1"/>
    <dgm:cxn modelId="{E8A46CAB-BA26-4151-B51E-17AA43155B16}" type="presOf" srcId="{C2518070-81B1-42E3-A844-9DC3360FAD75}" destId="{9FC27015-B40E-463D-9C45-4FA015A58BD5}" srcOrd="0" destOrd="0" presId="urn:microsoft.com/office/officeart/2005/8/layout/hierarchy1"/>
    <dgm:cxn modelId="{B98914CB-8E5C-48B5-99B4-8DA3A37A2642}" type="presOf" srcId="{D964AE90-14AE-4E47-8A00-B1AF145A74BC}" destId="{BC6B6957-967A-46B9-BE67-21707D391A87}" srcOrd="0" destOrd="0" presId="urn:microsoft.com/office/officeart/2005/8/layout/hierarchy1"/>
    <dgm:cxn modelId="{EA2C72E7-C805-49B2-824F-CDFBFF7A7748}" srcId="{3E19F532-B471-4E57-BB47-99FF4EAD7E4C}" destId="{2AE5CA69-39CE-4610-A226-17139CF1C8F9}" srcOrd="1" destOrd="0" parTransId="{F0FA06BD-47C6-416A-AA20-F9995247B28B}" sibTransId="{E83413A5-F355-4E26-88A9-F7229740F457}"/>
    <dgm:cxn modelId="{476328F9-FA71-4248-B1D2-70EA2FD67518}" srcId="{3E19F532-B471-4E57-BB47-99FF4EAD7E4C}" destId="{D964AE90-14AE-4E47-8A00-B1AF145A74BC}" srcOrd="0" destOrd="0" parTransId="{355B76AC-9A2F-4BF2-801C-D84CAFA27CC3}" sibTransId="{DC664F9B-E85C-430B-998F-8A97CF45A789}"/>
    <dgm:cxn modelId="{08198E78-69B2-4874-8EA0-9F3DA18FAA40}" type="presParOf" srcId="{813B28B3-E491-48E6-B034-D6155CDC5C25}" destId="{3683693F-27CC-48D6-B768-84C5854962BA}" srcOrd="0" destOrd="0" presId="urn:microsoft.com/office/officeart/2005/8/layout/hierarchy1"/>
    <dgm:cxn modelId="{D6368778-0D2B-40CA-9A9B-1CA2C94D4768}" type="presParOf" srcId="{3683693F-27CC-48D6-B768-84C5854962BA}" destId="{C6C48985-C84C-4785-9DA1-69480CD80384}" srcOrd="0" destOrd="0" presId="urn:microsoft.com/office/officeart/2005/8/layout/hierarchy1"/>
    <dgm:cxn modelId="{A6F19F7B-F14B-4F1E-B231-E2B88B7D7432}" type="presParOf" srcId="{C6C48985-C84C-4785-9DA1-69480CD80384}" destId="{9E4D38AB-55CE-4705-8E23-B5CE28F9D987}" srcOrd="0" destOrd="0" presId="urn:microsoft.com/office/officeart/2005/8/layout/hierarchy1"/>
    <dgm:cxn modelId="{4C8F497A-F825-4CAD-8670-366F01118E55}" type="presParOf" srcId="{C6C48985-C84C-4785-9DA1-69480CD80384}" destId="{BC6B6957-967A-46B9-BE67-21707D391A87}" srcOrd="1" destOrd="0" presId="urn:microsoft.com/office/officeart/2005/8/layout/hierarchy1"/>
    <dgm:cxn modelId="{C5E9F1B0-3A56-4A33-9CF9-8D2E4AFED4F5}" type="presParOf" srcId="{3683693F-27CC-48D6-B768-84C5854962BA}" destId="{8F4AC1B8-913C-4CB1-89C4-7E2219DD2A97}" srcOrd="1" destOrd="0" presId="urn:microsoft.com/office/officeart/2005/8/layout/hierarchy1"/>
    <dgm:cxn modelId="{3BAAB2D9-611F-4912-BF59-1B4803E50030}" type="presParOf" srcId="{813B28B3-E491-48E6-B034-D6155CDC5C25}" destId="{BB351F57-1888-41A5-867F-7CD88E4D1748}" srcOrd="1" destOrd="0" presId="urn:microsoft.com/office/officeart/2005/8/layout/hierarchy1"/>
    <dgm:cxn modelId="{EF960741-CD74-467F-AEC0-6094B2D9BDBB}" type="presParOf" srcId="{BB351F57-1888-41A5-867F-7CD88E4D1748}" destId="{109A1553-1AC1-4BC2-93AF-1B6CDA804E10}" srcOrd="0" destOrd="0" presId="urn:microsoft.com/office/officeart/2005/8/layout/hierarchy1"/>
    <dgm:cxn modelId="{36F4B6D1-620D-4400-B7F1-89AE98F6267C}" type="presParOf" srcId="{109A1553-1AC1-4BC2-93AF-1B6CDA804E10}" destId="{F7167099-95C2-4459-AECC-C4FC4BBFDF4B}" srcOrd="0" destOrd="0" presId="urn:microsoft.com/office/officeart/2005/8/layout/hierarchy1"/>
    <dgm:cxn modelId="{5D2260B4-9CFF-4BCB-9561-C4A2FBACAF79}" type="presParOf" srcId="{109A1553-1AC1-4BC2-93AF-1B6CDA804E10}" destId="{3B2FC920-CE7F-4E32-AE80-E0939187CC43}" srcOrd="1" destOrd="0" presId="urn:microsoft.com/office/officeart/2005/8/layout/hierarchy1"/>
    <dgm:cxn modelId="{68E152D9-F460-4F50-A179-03C813B170C9}" type="presParOf" srcId="{BB351F57-1888-41A5-867F-7CD88E4D1748}" destId="{29CDDA8D-3528-4F6E-B2AF-6958087B5327}" srcOrd="1" destOrd="0" presId="urn:microsoft.com/office/officeart/2005/8/layout/hierarchy1"/>
    <dgm:cxn modelId="{F565C9CA-2C3A-42FA-8FC5-F00AD4B1FD28}" type="presParOf" srcId="{813B28B3-E491-48E6-B034-D6155CDC5C25}" destId="{3A4DAEAA-330E-4A35-92A2-ACD3586DB8EC}" srcOrd="2" destOrd="0" presId="urn:microsoft.com/office/officeart/2005/8/layout/hierarchy1"/>
    <dgm:cxn modelId="{3F2E862E-84AF-4D53-939C-7B2F2C92C207}" type="presParOf" srcId="{3A4DAEAA-330E-4A35-92A2-ACD3586DB8EC}" destId="{C8C60452-A2E3-45B7-8D33-31498CF20ADC}" srcOrd="0" destOrd="0" presId="urn:microsoft.com/office/officeart/2005/8/layout/hierarchy1"/>
    <dgm:cxn modelId="{BB1736ED-432F-4F36-A248-B2FACCF3DFAF}" type="presParOf" srcId="{C8C60452-A2E3-45B7-8D33-31498CF20ADC}" destId="{7E96A854-C13D-4C59-85C6-BDA8B76A4D7B}" srcOrd="0" destOrd="0" presId="urn:microsoft.com/office/officeart/2005/8/layout/hierarchy1"/>
    <dgm:cxn modelId="{520313F4-403A-419C-B33C-072A6853DBDB}" type="presParOf" srcId="{C8C60452-A2E3-45B7-8D33-31498CF20ADC}" destId="{9FC27015-B40E-463D-9C45-4FA015A58BD5}" srcOrd="1" destOrd="0" presId="urn:microsoft.com/office/officeart/2005/8/layout/hierarchy1"/>
    <dgm:cxn modelId="{3536FB21-D77E-4A8C-863F-7D838F7AF81B}" type="presParOf" srcId="{3A4DAEAA-330E-4A35-92A2-ACD3586DB8EC}" destId="{9E7C0440-CFD4-46CA-93DD-0634C74AF63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6727F2-F860-4001-9732-7F7B8068AD31}" type="doc">
      <dgm:prSet loTypeId="urn:microsoft.com/office/officeart/2005/8/layout/vProcess5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931F991-6A72-4E4F-A2A4-6BE6C2328C89}">
      <dgm:prSet/>
      <dgm:spPr/>
      <dgm:t>
        <a:bodyPr/>
        <a:lstStyle/>
        <a:p>
          <a:r>
            <a:rPr lang="en-US" b="1" i="0" baseline="0" dirty="0" err="1"/>
            <a:t>Proiecte</a:t>
          </a:r>
          <a:r>
            <a:rPr lang="en-US" b="0" i="0" baseline="0" dirty="0"/>
            <a:t>: </a:t>
          </a:r>
          <a:r>
            <a:rPr lang="en-US" b="0" i="0" baseline="0" dirty="0" err="1"/>
            <a:t>organizate</a:t>
          </a:r>
          <a:r>
            <a:rPr lang="en-US" b="0" i="0" baseline="0" dirty="0"/>
            <a:t> </a:t>
          </a:r>
          <a:r>
            <a:rPr lang="ro-RO" b="0" i="0" baseline="0" dirty="0"/>
            <a:t>în</a:t>
          </a:r>
          <a:r>
            <a:rPr lang="en-US" b="0" i="0" baseline="0" dirty="0"/>
            <a:t> board-</a:t>
          </a:r>
          <a:r>
            <a:rPr lang="en-US" b="0" i="0" baseline="0" dirty="0" err="1"/>
            <a:t>uri</a:t>
          </a:r>
          <a:r>
            <a:rPr lang="en-US" b="0" i="0" baseline="0" dirty="0"/>
            <a:t>.</a:t>
          </a:r>
          <a:endParaRPr lang="en-US" dirty="0"/>
        </a:p>
      </dgm:t>
    </dgm:pt>
    <dgm:pt modelId="{57FD217A-3486-4309-B22F-CA7D1FF7586F}" type="parTrans" cxnId="{19D3EB41-F17B-4C23-BAE1-6096D07F84D8}">
      <dgm:prSet/>
      <dgm:spPr/>
      <dgm:t>
        <a:bodyPr/>
        <a:lstStyle/>
        <a:p>
          <a:endParaRPr lang="en-US"/>
        </a:p>
      </dgm:t>
    </dgm:pt>
    <dgm:pt modelId="{052F5D5F-625F-4858-936C-ABE7ACF7293B}" type="sibTrans" cxnId="{19D3EB41-F17B-4C23-BAE1-6096D07F84D8}">
      <dgm:prSet/>
      <dgm:spPr/>
      <dgm:t>
        <a:bodyPr/>
        <a:lstStyle/>
        <a:p>
          <a:endParaRPr lang="en-US"/>
        </a:p>
      </dgm:t>
    </dgm:pt>
    <dgm:pt modelId="{4305B3A6-894A-46E2-BBE1-D2ED17CAB40D}">
      <dgm:prSet/>
      <dgm:spPr/>
      <dgm:t>
        <a:bodyPr/>
        <a:lstStyle/>
        <a:p>
          <a:r>
            <a:rPr lang="en-US" b="1" i="0" baseline="0" dirty="0" err="1"/>
            <a:t>Epicuri</a:t>
          </a:r>
          <a:r>
            <a:rPr lang="en-US" b="0" i="0" baseline="0" dirty="0"/>
            <a:t>: </a:t>
          </a:r>
          <a:r>
            <a:rPr lang="en-US" b="0" i="0" baseline="0" dirty="0" err="1"/>
            <a:t>grupuri</a:t>
          </a:r>
          <a:r>
            <a:rPr lang="en-US" b="0" i="0" baseline="0" dirty="0"/>
            <a:t> </a:t>
          </a:r>
          <a:r>
            <a:rPr lang="en-US" b="0" i="0" baseline="0" dirty="0" err="1"/>
            <a:t>mari</a:t>
          </a:r>
          <a:r>
            <a:rPr lang="en-US" b="0" i="0" baseline="0" dirty="0"/>
            <a:t> de </a:t>
          </a:r>
          <a:r>
            <a:rPr lang="en-US" b="0" i="0" baseline="0" dirty="0" err="1"/>
            <a:t>sarcini</a:t>
          </a:r>
          <a:r>
            <a:rPr lang="en-US" b="0" i="0" baseline="0" dirty="0"/>
            <a:t> </a:t>
          </a:r>
          <a:r>
            <a:rPr lang="en-US" b="0" i="0" baseline="0" dirty="0" err="1"/>
            <a:t>ce</a:t>
          </a:r>
          <a:r>
            <a:rPr lang="en-US" b="0" i="0" baseline="0" dirty="0"/>
            <a:t> </a:t>
          </a:r>
          <a:r>
            <a:rPr lang="en-US" b="0" i="0" baseline="0" dirty="0" err="1"/>
            <a:t>conțin</a:t>
          </a:r>
          <a:r>
            <a:rPr lang="en-US" b="0" i="0" baseline="0" dirty="0"/>
            <a:t> task-</a:t>
          </a:r>
          <a:r>
            <a:rPr lang="en-US" b="0" i="0" baseline="0" dirty="0" err="1"/>
            <a:t>uri</a:t>
          </a:r>
          <a:r>
            <a:rPr lang="en-US" b="0" i="0" baseline="0" dirty="0"/>
            <a:t> </a:t>
          </a:r>
          <a:r>
            <a:rPr lang="en-US" b="0" i="0" baseline="0" dirty="0" err="1"/>
            <a:t>și</a:t>
          </a:r>
          <a:r>
            <a:rPr lang="en-US" b="0" i="0" baseline="0" dirty="0"/>
            <a:t> subtask-</a:t>
          </a:r>
          <a:r>
            <a:rPr lang="en-US" b="0" i="0" baseline="0" dirty="0" err="1"/>
            <a:t>uri</a:t>
          </a:r>
          <a:r>
            <a:rPr lang="en-US" b="0" i="0" baseline="0" dirty="0"/>
            <a:t>.</a:t>
          </a:r>
          <a:endParaRPr lang="en-US" dirty="0"/>
        </a:p>
      </dgm:t>
    </dgm:pt>
    <dgm:pt modelId="{E3B87AB7-E79F-4376-B92D-B3C86267F625}" type="parTrans" cxnId="{0EBB3AE1-98F2-4447-81B1-774540904E6A}">
      <dgm:prSet/>
      <dgm:spPr/>
      <dgm:t>
        <a:bodyPr/>
        <a:lstStyle/>
        <a:p>
          <a:endParaRPr lang="en-US"/>
        </a:p>
      </dgm:t>
    </dgm:pt>
    <dgm:pt modelId="{CAE71BDD-99C1-4BD2-A0D4-382ED8F9DFB8}" type="sibTrans" cxnId="{0EBB3AE1-98F2-4447-81B1-774540904E6A}">
      <dgm:prSet/>
      <dgm:spPr/>
      <dgm:t>
        <a:bodyPr/>
        <a:lstStyle/>
        <a:p>
          <a:endParaRPr lang="en-US"/>
        </a:p>
      </dgm:t>
    </dgm:pt>
    <dgm:pt modelId="{B400E728-ABBE-4BE3-8F1E-7F671C05C4FC}">
      <dgm:prSet/>
      <dgm:spPr/>
      <dgm:t>
        <a:bodyPr/>
        <a:lstStyle/>
        <a:p>
          <a:r>
            <a:rPr lang="en-US" b="1" i="0" baseline="0"/>
            <a:t>Task-uri</a:t>
          </a:r>
          <a:r>
            <a:rPr lang="en-US" b="0" i="0" baseline="0"/>
            <a:t> și </a:t>
          </a:r>
          <a:r>
            <a:rPr lang="en-US" b="1" i="0" baseline="0"/>
            <a:t>Subtasks</a:t>
          </a:r>
          <a:r>
            <a:rPr lang="en-US" b="0" i="0" baseline="0"/>
            <a:t>: sarcini de lucru atribuite membrilor echipei.</a:t>
          </a:r>
          <a:endParaRPr lang="en-US"/>
        </a:p>
      </dgm:t>
    </dgm:pt>
    <dgm:pt modelId="{05343756-2C4D-4B97-8CEF-3594C15B1D1F}" type="parTrans" cxnId="{942896BF-D32B-4B3E-BB23-21F59592CC0E}">
      <dgm:prSet/>
      <dgm:spPr/>
      <dgm:t>
        <a:bodyPr/>
        <a:lstStyle/>
        <a:p>
          <a:endParaRPr lang="en-US"/>
        </a:p>
      </dgm:t>
    </dgm:pt>
    <dgm:pt modelId="{3BE9BF7C-A92A-41FB-AE2D-7452BF023C18}" type="sibTrans" cxnId="{942896BF-D32B-4B3E-BB23-21F59592CC0E}">
      <dgm:prSet/>
      <dgm:spPr/>
      <dgm:t>
        <a:bodyPr/>
        <a:lstStyle/>
        <a:p>
          <a:endParaRPr lang="en-US"/>
        </a:p>
      </dgm:t>
    </dgm:pt>
    <dgm:pt modelId="{F55D752E-DF93-474A-8A43-AF2528CB0531}" type="pres">
      <dgm:prSet presAssocID="{F16727F2-F860-4001-9732-7F7B8068AD31}" presName="outerComposite" presStyleCnt="0">
        <dgm:presLayoutVars>
          <dgm:chMax val="5"/>
          <dgm:dir/>
          <dgm:resizeHandles val="exact"/>
        </dgm:presLayoutVars>
      </dgm:prSet>
      <dgm:spPr/>
    </dgm:pt>
    <dgm:pt modelId="{193357AD-1CE0-4700-ADFD-B23DEDC92379}" type="pres">
      <dgm:prSet presAssocID="{F16727F2-F860-4001-9732-7F7B8068AD31}" presName="dummyMaxCanvas" presStyleCnt="0">
        <dgm:presLayoutVars/>
      </dgm:prSet>
      <dgm:spPr/>
    </dgm:pt>
    <dgm:pt modelId="{2420AF7F-6F8C-4A88-A450-73866873167B}" type="pres">
      <dgm:prSet presAssocID="{F16727F2-F860-4001-9732-7F7B8068AD31}" presName="ThreeNodes_1" presStyleLbl="node1" presStyleIdx="0" presStyleCnt="3">
        <dgm:presLayoutVars>
          <dgm:bulletEnabled val="1"/>
        </dgm:presLayoutVars>
      </dgm:prSet>
      <dgm:spPr/>
    </dgm:pt>
    <dgm:pt modelId="{6F9DC3D9-B398-4464-B768-CEB193C08A13}" type="pres">
      <dgm:prSet presAssocID="{F16727F2-F860-4001-9732-7F7B8068AD31}" presName="ThreeNodes_2" presStyleLbl="node1" presStyleIdx="1" presStyleCnt="3">
        <dgm:presLayoutVars>
          <dgm:bulletEnabled val="1"/>
        </dgm:presLayoutVars>
      </dgm:prSet>
      <dgm:spPr/>
    </dgm:pt>
    <dgm:pt modelId="{5EEBDAB3-BAD3-4352-84C9-5DFB0EA92A38}" type="pres">
      <dgm:prSet presAssocID="{F16727F2-F860-4001-9732-7F7B8068AD31}" presName="ThreeNodes_3" presStyleLbl="node1" presStyleIdx="2" presStyleCnt="3">
        <dgm:presLayoutVars>
          <dgm:bulletEnabled val="1"/>
        </dgm:presLayoutVars>
      </dgm:prSet>
      <dgm:spPr/>
    </dgm:pt>
    <dgm:pt modelId="{CD0667CB-2A74-4D2F-84EC-7E89F43A3BC2}" type="pres">
      <dgm:prSet presAssocID="{F16727F2-F860-4001-9732-7F7B8068AD31}" presName="ThreeConn_1-2" presStyleLbl="fgAccFollowNode1" presStyleIdx="0" presStyleCnt="2">
        <dgm:presLayoutVars>
          <dgm:bulletEnabled val="1"/>
        </dgm:presLayoutVars>
      </dgm:prSet>
      <dgm:spPr/>
    </dgm:pt>
    <dgm:pt modelId="{C2E8F9D2-1D62-4991-A574-72A7339060F0}" type="pres">
      <dgm:prSet presAssocID="{F16727F2-F860-4001-9732-7F7B8068AD31}" presName="ThreeConn_2-3" presStyleLbl="fgAccFollowNode1" presStyleIdx="1" presStyleCnt="2">
        <dgm:presLayoutVars>
          <dgm:bulletEnabled val="1"/>
        </dgm:presLayoutVars>
      </dgm:prSet>
      <dgm:spPr/>
    </dgm:pt>
    <dgm:pt modelId="{F70AA2B8-436C-43B2-8DC6-AF452F01B389}" type="pres">
      <dgm:prSet presAssocID="{F16727F2-F860-4001-9732-7F7B8068AD31}" presName="ThreeNodes_1_text" presStyleLbl="node1" presStyleIdx="2" presStyleCnt="3">
        <dgm:presLayoutVars>
          <dgm:bulletEnabled val="1"/>
        </dgm:presLayoutVars>
      </dgm:prSet>
      <dgm:spPr/>
    </dgm:pt>
    <dgm:pt modelId="{57B92A09-0178-43C4-AD5E-2AAF42B309C9}" type="pres">
      <dgm:prSet presAssocID="{F16727F2-F860-4001-9732-7F7B8068AD31}" presName="ThreeNodes_2_text" presStyleLbl="node1" presStyleIdx="2" presStyleCnt="3">
        <dgm:presLayoutVars>
          <dgm:bulletEnabled val="1"/>
        </dgm:presLayoutVars>
      </dgm:prSet>
      <dgm:spPr/>
    </dgm:pt>
    <dgm:pt modelId="{2932BFDC-8958-4EEE-8D4C-BC878CB5B88F}" type="pres">
      <dgm:prSet presAssocID="{F16727F2-F860-4001-9732-7F7B8068AD3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C170921-AEF0-43FD-AC2C-2736769BDD9F}" type="presOf" srcId="{4305B3A6-894A-46E2-BBE1-D2ED17CAB40D}" destId="{6F9DC3D9-B398-4464-B768-CEB193C08A13}" srcOrd="0" destOrd="0" presId="urn:microsoft.com/office/officeart/2005/8/layout/vProcess5"/>
    <dgm:cxn modelId="{AC4BEF34-152F-4C2E-9FA4-0605C646BF90}" type="presOf" srcId="{9931F991-6A72-4E4F-A2A4-6BE6C2328C89}" destId="{F70AA2B8-436C-43B2-8DC6-AF452F01B389}" srcOrd="1" destOrd="0" presId="urn:microsoft.com/office/officeart/2005/8/layout/vProcess5"/>
    <dgm:cxn modelId="{19D3EB41-F17B-4C23-BAE1-6096D07F84D8}" srcId="{F16727F2-F860-4001-9732-7F7B8068AD31}" destId="{9931F991-6A72-4E4F-A2A4-6BE6C2328C89}" srcOrd="0" destOrd="0" parTransId="{57FD217A-3486-4309-B22F-CA7D1FF7586F}" sibTransId="{052F5D5F-625F-4858-936C-ABE7ACF7293B}"/>
    <dgm:cxn modelId="{34EB8E6C-C2FA-4D2F-B405-FF5CD4B9F3CF}" type="presOf" srcId="{4305B3A6-894A-46E2-BBE1-D2ED17CAB40D}" destId="{57B92A09-0178-43C4-AD5E-2AAF42B309C9}" srcOrd="1" destOrd="0" presId="urn:microsoft.com/office/officeart/2005/8/layout/vProcess5"/>
    <dgm:cxn modelId="{1B72736D-EC92-4E4F-8A78-60B3D5A3D2C1}" type="presOf" srcId="{B400E728-ABBE-4BE3-8F1E-7F671C05C4FC}" destId="{5EEBDAB3-BAD3-4352-84C9-5DFB0EA92A38}" srcOrd="0" destOrd="0" presId="urn:microsoft.com/office/officeart/2005/8/layout/vProcess5"/>
    <dgm:cxn modelId="{6C157571-304C-4858-975B-D7AA024B9F7C}" type="presOf" srcId="{B400E728-ABBE-4BE3-8F1E-7F671C05C4FC}" destId="{2932BFDC-8958-4EEE-8D4C-BC878CB5B88F}" srcOrd="1" destOrd="0" presId="urn:microsoft.com/office/officeart/2005/8/layout/vProcess5"/>
    <dgm:cxn modelId="{E89643AE-B96A-4F77-98F4-A655B20D2C3D}" type="presOf" srcId="{F16727F2-F860-4001-9732-7F7B8068AD31}" destId="{F55D752E-DF93-474A-8A43-AF2528CB0531}" srcOrd="0" destOrd="0" presId="urn:microsoft.com/office/officeart/2005/8/layout/vProcess5"/>
    <dgm:cxn modelId="{032B93BC-41B9-4DF6-A9F3-9CB51759370B}" type="presOf" srcId="{9931F991-6A72-4E4F-A2A4-6BE6C2328C89}" destId="{2420AF7F-6F8C-4A88-A450-73866873167B}" srcOrd="0" destOrd="0" presId="urn:microsoft.com/office/officeart/2005/8/layout/vProcess5"/>
    <dgm:cxn modelId="{89C42CBE-48D5-47F6-9EC1-AEA9A4579550}" type="presOf" srcId="{052F5D5F-625F-4858-936C-ABE7ACF7293B}" destId="{CD0667CB-2A74-4D2F-84EC-7E89F43A3BC2}" srcOrd="0" destOrd="0" presId="urn:microsoft.com/office/officeart/2005/8/layout/vProcess5"/>
    <dgm:cxn modelId="{942896BF-D32B-4B3E-BB23-21F59592CC0E}" srcId="{F16727F2-F860-4001-9732-7F7B8068AD31}" destId="{B400E728-ABBE-4BE3-8F1E-7F671C05C4FC}" srcOrd="2" destOrd="0" parTransId="{05343756-2C4D-4B97-8CEF-3594C15B1D1F}" sibTransId="{3BE9BF7C-A92A-41FB-AE2D-7452BF023C18}"/>
    <dgm:cxn modelId="{0EBB3AE1-98F2-4447-81B1-774540904E6A}" srcId="{F16727F2-F860-4001-9732-7F7B8068AD31}" destId="{4305B3A6-894A-46E2-BBE1-D2ED17CAB40D}" srcOrd="1" destOrd="0" parTransId="{E3B87AB7-E79F-4376-B92D-B3C86267F625}" sibTransId="{CAE71BDD-99C1-4BD2-A0D4-382ED8F9DFB8}"/>
    <dgm:cxn modelId="{534579F3-29DA-4565-AA73-8C516E628B86}" type="presOf" srcId="{CAE71BDD-99C1-4BD2-A0D4-382ED8F9DFB8}" destId="{C2E8F9D2-1D62-4991-A574-72A7339060F0}" srcOrd="0" destOrd="0" presId="urn:microsoft.com/office/officeart/2005/8/layout/vProcess5"/>
    <dgm:cxn modelId="{BE684B67-5E71-4F12-ADAB-92BCAC8A9EC9}" type="presParOf" srcId="{F55D752E-DF93-474A-8A43-AF2528CB0531}" destId="{193357AD-1CE0-4700-ADFD-B23DEDC92379}" srcOrd="0" destOrd="0" presId="urn:microsoft.com/office/officeart/2005/8/layout/vProcess5"/>
    <dgm:cxn modelId="{680F25F8-310D-45DF-BD8D-C2397EAE49A5}" type="presParOf" srcId="{F55D752E-DF93-474A-8A43-AF2528CB0531}" destId="{2420AF7F-6F8C-4A88-A450-73866873167B}" srcOrd="1" destOrd="0" presId="urn:microsoft.com/office/officeart/2005/8/layout/vProcess5"/>
    <dgm:cxn modelId="{F4741B31-9BF4-44DE-864C-CEECEA2E0FAE}" type="presParOf" srcId="{F55D752E-DF93-474A-8A43-AF2528CB0531}" destId="{6F9DC3D9-B398-4464-B768-CEB193C08A13}" srcOrd="2" destOrd="0" presId="urn:microsoft.com/office/officeart/2005/8/layout/vProcess5"/>
    <dgm:cxn modelId="{2E112AA3-5590-4DD5-A761-DD0CA436FF71}" type="presParOf" srcId="{F55D752E-DF93-474A-8A43-AF2528CB0531}" destId="{5EEBDAB3-BAD3-4352-84C9-5DFB0EA92A38}" srcOrd="3" destOrd="0" presId="urn:microsoft.com/office/officeart/2005/8/layout/vProcess5"/>
    <dgm:cxn modelId="{4C827A30-09D2-4034-BF75-D2E2A9E22A5E}" type="presParOf" srcId="{F55D752E-DF93-474A-8A43-AF2528CB0531}" destId="{CD0667CB-2A74-4D2F-84EC-7E89F43A3BC2}" srcOrd="4" destOrd="0" presId="urn:microsoft.com/office/officeart/2005/8/layout/vProcess5"/>
    <dgm:cxn modelId="{DFB3C644-83DB-4ABC-9D5C-6FC0BAFAD453}" type="presParOf" srcId="{F55D752E-DF93-474A-8A43-AF2528CB0531}" destId="{C2E8F9D2-1D62-4991-A574-72A7339060F0}" srcOrd="5" destOrd="0" presId="urn:microsoft.com/office/officeart/2005/8/layout/vProcess5"/>
    <dgm:cxn modelId="{5BCA086A-1457-4A92-BEAC-DF56F92F0A36}" type="presParOf" srcId="{F55D752E-DF93-474A-8A43-AF2528CB0531}" destId="{F70AA2B8-436C-43B2-8DC6-AF452F01B389}" srcOrd="6" destOrd="0" presId="urn:microsoft.com/office/officeart/2005/8/layout/vProcess5"/>
    <dgm:cxn modelId="{8129AEB1-579C-45ED-B992-6872402D6D82}" type="presParOf" srcId="{F55D752E-DF93-474A-8A43-AF2528CB0531}" destId="{57B92A09-0178-43C4-AD5E-2AAF42B309C9}" srcOrd="7" destOrd="0" presId="urn:microsoft.com/office/officeart/2005/8/layout/vProcess5"/>
    <dgm:cxn modelId="{68F1C18E-B4EA-4EBD-B04C-AC7276E9C847}" type="presParOf" srcId="{F55D752E-DF93-474A-8A43-AF2528CB0531}" destId="{2932BFDC-8958-4EEE-8D4C-BC878CB5B88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4CDEA0-B8FA-49B4-BEBD-F27B7D8E684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6A2C5EB-FB53-48CB-8DF4-7EF8BEAF1C3F}">
      <dgm:prSet/>
      <dgm:spPr/>
      <dgm:t>
        <a:bodyPr/>
        <a:lstStyle/>
        <a:p>
          <a:r>
            <a:rPr lang="en-US" b="1" i="0" baseline="0"/>
            <a:t>Avantaje</a:t>
          </a:r>
          <a:r>
            <a:rPr lang="en-US" b="0" i="0" baseline="0"/>
            <a:t>: vizibilitate mare, organizare, transparență pentru echipă, scalabil pentru proiecte de dimensiuni diferite.</a:t>
          </a:r>
          <a:endParaRPr lang="en-US"/>
        </a:p>
      </dgm:t>
    </dgm:pt>
    <dgm:pt modelId="{F49FD95D-57EF-425E-9D3D-FEF4F6BA38FA}" type="parTrans" cxnId="{30D100E0-4112-440A-BFF5-47388341FF93}">
      <dgm:prSet/>
      <dgm:spPr/>
      <dgm:t>
        <a:bodyPr/>
        <a:lstStyle/>
        <a:p>
          <a:endParaRPr lang="en-US"/>
        </a:p>
      </dgm:t>
    </dgm:pt>
    <dgm:pt modelId="{3A93014E-E771-4ED3-B344-7C07E24B5038}" type="sibTrans" cxnId="{30D100E0-4112-440A-BFF5-47388341FF93}">
      <dgm:prSet/>
      <dgm:spPr/>
      <dgm:t>
        <a:bodyPr/>
        <a:lstStyle/>
        <a:p>
          <a:endParaRPr lang="en-US"/>
        </a:p>
      </dgm:t>
    </dgm:pt>
    <dgm:pt modelId="{CE770737-FE0D-487E-B784-984C69260F46}">
      <dgm:prSet/>
      <dgm:spPr/>
      <dgm:t>
        <a:bodyPr/>
        <a:lstStyle/>
        <a:p>
          <a:r>
            <a:rPr lang="en-US" b="1" i="0" baseline="0"/>
            <a:t>Provocări</a:t>
          </a:r>
          <a:r>
            <a:rPr lang="en-US" b="0" i="0" baseline="0"/>
            <a:t>: configurarea inițială poate fi complexă, iar unele echipe pot considera că este dificil de personalizat.</a:t>
          </a:r>
          <a:endParaRPr lang="en-US"/>
        </a:p>
      </dgm:t>
    </dgm:pt>
    <dgm:pt modelId="{D4D25F61-1625-499F-84D5-B8DA09FB948F}" type="parTrans" cxnId="{55D7229A-2E2C-4D5C-A50B-3AFB7B5B91B4}">
      <dgm:prSet/>
      <dgm:spPr/>
      <dgm:t>
        <a:bodyPr/>
        <a:lstStyle/>
        <a:p>
          <a:endParaRPr lang="en-US"/>
        </a:p>
      </dgm:t>
    </dgm:pt>
    <dgm:pt modelId="{F78637F1-80A4-4771-BF7F-680B84EB162B}" type="sibTrans" cxnId="{55D7229A-2E2C-4D5C-A50B-3AFB7B5B91B4}">
      <dgm:prSet/>
      <dgm:spPr/>
      <dgm:t>
        <a:bodyPr/>
        <a:lstStyle/>
        <a:p>
          <a:endParaRPr lang="en-US"/>
        </a:p>
      </dgm:t>
    </dgm:pt>
    <dgm:pt modelId="{08E34FBC-831C-470F-9DFD-1B590307C1AA}" type="pres">
      <dgm:prSet presAssocID="{304CDEA0-B8FA-49B4-BEBD-F27B7D8E684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C1C6F29-AE7B-49F7-B80D-7D2027C38E29}" type="pres">
      <dgm:prSet presAssocID="{96A2C5EB-FB53-48CB-8DF4-7EF8BEAF1C3F}" presName="hierRoot1" presStyleCnt="0"/>
      <dgm:spPr/>
    </dgm:pt>
    <dgm:pt modelId="{7FA82FA2-4712-4A7E-9F88-9F2A5B770B07}" type="pres">
      <dgm:prSet presAssocID="{96A2C5EB-FB53-48CB-8DF4-7EF8BEAF1C3F}" presName="composite" presStyleCnt="0"/>
      <dgm:spPr/>
    </dgm:pt>
    <dgm:pt modelId="{FDA93D80-D0BB-4D3A-9C71-8F42F161E5A3}" type="pres">
      <dgm:prSet presAssocID="{96A2C5EB-FB53-48CB-8DF4-7EF8BEAF1C3F}" presName="background" presStyleLbl="node0" presStyleIdx="0" presStyleCnt="2"/>
      <dgm:spPr/>
    </dgm:pt>
    <dgm:pt modelId="{A88DAA7B-7524-4F16-B902-32475F8907EB}" type="pres">
      <dgm:prSet presAssocID="{96A2C5EB-FB53-48CB-8DF4-7EF8BEAF1C3F}" presName="text" presStyleLbl="fgAcc0" presStyleIdx="0" presStyleCnt="2">
        <dgm:presLayoutVars>
          <dgm:chPref val="3"/>
        </dgm:presLayoutVars>
      </dgm:prSet>
      <dgm:spPr/>
    </dgm:pt>
    <dgm:pt modelId="{033938B8-36A9-4BEE-B747-2BD2B2B3BD5D}" type="pres">
      <dgm:prSet presAssocID="{96A2C5EB-FB53-48CB-8DF4-7EF8BEAF1C3F}" presName="hierChild2" presStyleCnt="0"/>
      <dgm:spPr/>
    </dgm:pt>
    <dgm:pt modelId="{C22919CB-1D8C-421A-AAF2-78B9A00AAE0A}" type="pres">
      <dgm:prSet presAssocID="{CE770737-FE0D-487E-B784-984C69260F46}" presName="hierRoot1" presStyleCnt="0"/>
      <dgm:spPr/>
    </dgm:pt>
    <dgm:pt modelId="{C02DD68E-3CBC-4D5A-8F40-E5F13883BEDF}" type="pres">
      <dgm:prSet presAssocID="{CE770737-FE0D-487E-B784-984C69260F46}" presName="composite" presStyleCnt="0"/>
      <dgm:spPr/>
    </dgm:pt>
    <dgm:pt modelId="{1B08D7D0-A1CC-4DBE-8F37-E464864C63DF}" type="pres">
      <dgm:prSet presAssocID="{CE770737-FE0D-487E-B784-984C69260F46}" presName="background" presStyleLbl="node0" presStyleIdx="1" presStyleCnt="2"/>
      <dgm:spPr/>
    </dgm:pt>
    <dgm:pt modelId="{2D26325E-06B2-4FDA-8EF2-7DF4E478CB1F}" type="pres">
      <dgm:prSet presAssocID="{CE770737-FE0D-487E-B784-984C69260F46}" presName="text" presStyleLbl="fgAcc0" presStyleIdx="1" presStyleCnt="2">
        <dgm:presLayoutVars>
          <dgm:chPref val="3"/>
        </dgm:presLayoutVars>
      </dgm:prSet>
      <dgm:spPr/>
    </dgm:pt>
    <dgm:pt modelId="{E1631D46-03C2-425B-B12E-EFE3F37B2795}" type="pres">
      <dgm:prSet presAssocID="{CE770737-FE0D-487E-B784-984C69260F46}" presName="hierChild2" presStyleCnt="0"/>
      <dgm:spPr/>
    </dgm:pt>
  </dgm:ptLst>
  <dgm:cxnLst>
    <dgm:cxn modelId="{A9068A0A-9744-4FBD-8F48-6F6E6193EC1E}" type="presOf" srcId="{96A2C5EB-FB53-48CB-8DF4-7EF8BEAF1C3F}" destId="{A88DAA7B-7524-4F16-B902-32475F8907EB}" srcOrd="0" destOrd="0" presId="urn:microsoft.com/office/officeart/2005/8/layout/hierarchy1"/>
    <dgm:cxn modelId="{24B34480-044C-462C-B7AB-A111D6479EF1}" type="presOf" srcId="{CE770737-FE0D-487E-B784-984C69260F46}" destId="{2D26325E-06B2-4FDA-8EF2-7DF4E478CB1F}" srcOrd="0" destOrd="0" presId="urn:microsoft.com/office/officeart/2005/8/layout/hierarchy1"/>
    <dgm:cxn modelId="{9F25CA80-E073-416A-A3E2-35B2513E69B5}" type="presOf" srcId="{304CDEA0-B8FA-49B4-BEBD-F27B7D8E6847}" destId="{08E34FBC-831C-470F-9DFD-1B590307C1AA}" srcOrd="0" destOrd="0" presId="urn:microsoft.com/office/officeart/2005/8/layout/hierarchy1"/>
    <dgm:cxn modelId="{55D7229A-2E2C-4D5C-A50B-3AFB7B5B91B4}" srcId="{304CDEA0-B8FA-49B4-BEBD-F27B7D8E6847}" destId="{CE770737-FE0D-487E-B784-984C69260F46}" srcOrd="1" destOrd="0" parTransId="{D4D25F61-1625-499F-84D5-B8DA09FB948F}" sibTransId="{F78637F1-80A4-4771-BF7F-680B84EB162B}"/>
    <dgm:cxn modelId="{30D100E0-4112-440A-BFF5-47388341FF93}" srcId="{304CDEA0-B8FA-49B4-BEBD-F27B7D8E6847}" destId="{96A2C5EB-FB53-48CB-8DF4-7EF8BEAF1C3F}" srcOrd="0" destOrd="0" parTransId="{F49FD95D-57EF-425E-9D3D-FEF4F6BA38FA}" sibTransId="{3A93014E-E771-4ED3-B344-7C07E24B5038}"/>
    <dgm:cxn modelId="{B380E253-97F1-485A-B31D-11F04D71E333}" type="presParOf" srcId="{08E34FBC-831C-470F-9DFD-1B590307C1AA}" destId="{CC1C6F29-AE7B-49F7-B80D-7D2027C38E29}" srcOrd="0" destOrd="0" presId="urn:microsoft.com/office/officeart/2005/8/layout/hierarchy1"/>
    <dgm:cxn modelId="{A7C35573-4584-4B87-ADB1-8E78F0346110}" type="presParOf" srcId="{CC1C6F29-AE7B-49F7-B80D-7D2027C38E29}" destId="{7FA82FA2-4712-4A7E-9F88-9F2A5B770B07}" srcOrd="0" destOrd="0" presId="urn:microsoft.com/office/officeart/2005/8/layout/hierarchy1"/>
    <dgm:cxn modelId="{EE160FE8-F50D-4E75-9F2F-233718F1A23A}" type="presParOf" srcId="{7FA82FA2-4712-4A7E-9F88-9F2A5B770B07}" destId="{FDA93D80-D0BB-4D3A-9C71-8F42F161E5A3}" srcOrd="0" destOrd="0" presId="urn:microsoft.com/office/officeart/2005/8/layout/hierarchy1"/>
    <dgm:cxn modelId="{461008B7-51D6-4751-A64E-C0DC8F688219}" type="presParOf" srcId="{7FA82FA2-4712-4A7E-9F88-9F2A5B770B07}" destId="{A88DAA7B-7524-4F16-B902-32475F8907EB}" srcOrd="1" destOrd="0" presId="urn:microsoft.com/office/officeart/2005/8/layout/hierarchy1"/>
    <dgm:cxn modelId="{9C68B591-E2F2-413F-AD4C-0CF7E3C680B9}" type="presParOf" srcId="{CC1C6F29-AE7B-49F7-B80D-7D2027C38E29}" destId="{033938B8-36A9-4BEE-B747-2BD2B2B3BD5D}" srcOrd="1" destOrd="0" presId="urn:microsoft.com/office/officeart/2005/8/layout/hierarchy1"/>
    <dgm:cxn modelId="{3038C2EA-4252-4128-969E-8A79A844D8F1}" type="presParOf" srcId="{08E34FBC-831C-470F-9DFD-1B590307C1AA}" destId="{C22919CB-1D8C-421A-AAF2-78B9A00AAE0A}" srcOrd="1" destOrd="0" presId="urn:microsoft.com/office/officeart/2005/8/layout/hierarchy1"/>
    <dgm:cxn modelId="{7487D0BF-7F68-4A9E-846D-A7FC1F9E6290}" type="presParOf" srcId="{C22919CB-1D8C-421A-AAF2-78B9A00AAE0A}" destId="{C02DD68E-3CBC-4D5A-8F40-E5F13883BEDF}" srcOrd="0" destOrd="0" presId="urn:microsoft.com/office/officeart/2005/8/layout/hierarchy1"/>
    <dgm:cxn modelId="{C0EEA0C6-3D69-4718-B66E-A47118B0A62D}" type="presParOf" srcId="{C02DD68E-3CBC-4D5A-8F40-E5F13883BEDF}" destId="{1B08D7D0-A1CC-4DBE-8F37-E464864C63DF}" srcOrd="0" destOrd="0" presId="urn:microsoft.com/office/officeart/2005/8/layout/hierarchy1"/>
    <dgm:cxn modelId="{BDD2955D-93C8-44F7-B72F-80F4D60F6470}" type="presParOf" srcId="{C02DD68E-3CBC-4D5A-8F40-E5F13883BEDF}" destId="{2D26325E-06B2-4FDA-8EF2-7DF4E478CB1F}" srcOrd="1" destOrd="0" presId="urn:microsoft.com/office/officeart/2005/8/layout/hierarchy1"/>
    <dgm:cxn modelId="{FD98248C-06C8-457F-80F6-EC839F9B3921}" type="presParOf" srcId="{C22919CB-1D8C-421A-AAF2-78B9A00AAE0A}" destId="{E1631D46-03C2-425B-B12E-EFE3F37B27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866285-23AC-46CB-9EED-9865E47CC859}" type="doc">
      <dgm:prSet loTypeId="urn:microsoft.com/office/officeart/2005/8/layout/process4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799BBC-3EB8-4915-B885-F8FE4DDA529E}">
      <dgm:prSet/>
      <dgm:spPr/>
      <dgm:t>
        <a:bodyPr/>
        <a:lstStyle/>
        <a:p>
          <a:r>
            <a:rPr lang="en-US" b="0" i="0" baseline="0"/>
            <a:t>Jira oferă o vizibilitate ridicată asupra progresului proiectului și a task-urilor echipei.</a:t>
          </a:r>
          <a:endParaRPr lang="en-US"/>
        </a:p>
      </dgm:t>
    </dgm:pt>
    <dgm:pt modelId="{66434331-917B-4C7F-AD57-5350632937A0}" type="parTrans" cxnId="{21860FFB-A5C0-4B78-8A20-54C009F4E5BE}">
      <dgm:prSet/>
      <dgm:spPr/>
      <dgm:t>
        <a:bodyPr/>
        <a:lstStyle/>
        <a:p>
          <a:endParaRPr lang="en-US"/>
        </a:p>
      </dgm:t>
    </dgm:pt>
    <dgm:pt modelId="{F0788ED2-2156-42EF-B68D-8E43AEF49DB4}" type="sibTrans" cxnId="{21860FFB-A5C0-4B78-8A20-54C009F4E5BE}">
      <dgm:prSet/>
      <dgm:spPr/>
      <dgm:t>
        <a:bodyPr/>
        <a:lstStyle/>
        <a:p>
          <a:endParaRPr lang="en-US"/>
        </a:p>
      </dgm:t>
    </dgm:pt>
    <dgm:pt modelId="{C52AE945-464A-4233-93DB-28F3071306C9}">
      <dgm:prSet/>
      <dgm:spPr/>
      <dgm:t>
        <a:bodyPr/>
        <a:lstStyle/>
        <a:p>
          <a:r>
            <a:rPr lang="en-US" b="0" i="0" baseline="0"/>
            <a:t>Permite </a:t>
          </a:r>
          <a:r>
            <a:rPr lang="en-US" b="1" i="0" baseline="0"/>
            <a:t>gestionarea eficientă a resurselor</a:t>
          </a:r>
          <a:r>
            <a:rPr lang="en-US" b="0" i="0" baseline="0"/>
            <a:t> și alocarea clară a sarcinilor pentru a asigura că nimeni nu este supraîncărcat.</a:t>
          </a:r>
          <a:endParaRPr lang="en-US"/>
        </a:p>
      </dgm:t>
    </dgm:pt>
    <dgm:pt modelId="{79B7921A-BAB4-4117-B130-08732269C1C9}" type="parTrans" cxnId="{5962AADB-7657-4A0A-9254-94BD18795B3C}">
      <dgm:prSet/>
      <dgm:spPr/>
      <dgm:t>
        <a:bodyPr/>
        <a:lstStyle/>
        <a:p>
          <a:endParaRPr lang="en-US"/>
        </a:p>
      </dgm:t>
    </dgm:pt>
    <dgm:pt modelId="{6D844F3C-71AD-43AE-98AA-C7FA6D7259CC}" type="sibTrans" cxnId="{5962AADB-7657-4A0A-9254-94BD18795B3C}">
      <dgm:prSet/>
      <dgm:spPr/>
      <dgm:t>
        <a:bodyPr/>
        <a:lstStyle/>
        <a:p>
          <a:endParaRPr lang="en-US"/>
        </a:p>
      </dgm:t>
    </dgm:pt>
    <dgm:pt modelId="{7F80CCD1-AFF6-4E68-9A8B-DE1C33FE51B7}">
      <dgm:prSet/>
      <dgm:spPr/>
      <dgm:t>
        <a:bodyPr/>
        <a:lstStyle/>
        <a:p>
          <a:r>
            <a:rPr lang="en-US" b="0" i="0" baseline="0"/>
            <a:t>Suportul pentru metodologiile Agile, cum ar fi Scrum și Kanban, îl face foarte adaptabil pentru diferite tipuri de echipe.</a:t>
          </a:r>
          <a:endParaRPr lang="en-US"/>
        </a:p>
      </dgm:t>
    </dgm:pt>
    <dgm:pt modelId="{54B290A7-50CA-4738-8D2E-AF5A1451C6EA}" type="parTrans" cxnId="{C3BAB10F-383C-4677-8DA4-7BB8CBCACC7A}">
      <dgm:prSet/>
      <dgm:spPr/>
      <dgm:t>
        <a:bodyPr/>
        <a:lstStyle/>
        <a:p>
          <a:endParaRPr lang="en-US"/>
        </a:p>
      </dgm:t>
    </dgm:pt>
    <dgm:pt modelId="{C64E69DC-E6EB-4AFB-9237-05FAC7204C7A}" type="sibTrans" cxnId="{C3BAB10F-383C-4677-8DA4-7BB8CBCACC7A}">
      <dgm:prSet/>
      <dgm:spPr/>
      <dgm:t>
        <a:bodyPr/>
        <a:lstStyle/>
        <a:p>
          <a:endParaRPr lang="en-US"/>
        </a:p>
      </dgm:t>
    </dgm:pt>
    <dgm:pt modelId="{4919175B-17B7-4F52-AFE1-E99795F45BEE}">
      <dgm:prSet/>
      <dgm:spPr/>
      <dgm:t>
        <a:bodyPr/>
        <a:lstStyle/>
        <a:p>
          <a:r>
            <a:rPr lang="en-US" b="0" i="0" baseline="0"/>
            <a:t>Funcțiile de automatizare și integrare cu alte unelte (ex. Confluence, Slack) contribuie la eficiență și la colaborarea eficientă între membri. </a:t>
          </a:r>
          <a:endParaRPr lang="en-US"/>
        </a:p>
      </dgm:t>
    </dgm:pt>
    <dgm:pt modelId="{72E67971-F082-44E6-9536-CC5C0A85F1D5}" type="parTrans" cxnId="{7D2DDC18-9DA1-41AB-8EDE-812F43D5363C}">
      <dgm:prSet/>
      <dgm:spPr/>
      <dgm:t>
        <a:bodyPr/>
        <a:lstStyle/>
        <a:p>
          <a:endParaRPr lang="en-US"/>
        </a:p>
      </dgm:t>
    </dgm:pt>
    <dgm:pt modelId="{C8E6EC46-B4BD-4711-9C21-317F5032F40F}" type="sibTrans" cxnId="{7D2DDC18-9DA1-41AB-8EDE-812F43D5363C}">
      <dgm:prSet/>
      <dgm:spPr/>
      <dgm:t>
        <a:bodyPr/>
        <a:lstStyle/>
        <a:p>
          <a:endParaRPr lang="en-US"/>
        </a:p>
      </dgm:t>
    </dgm:pt>
    <dgm:pt modelId="{C76AC1DB-A305-44F6-82FA-CED83E86B8F6}" type="pres">
      <dgm:prSet presAssocID="{C7866285-23AC-46CB-9EED-9865E47CC859}" presName="Name0" presStyleCnt="0">
        <dgm:presLayoutVars>
          <dgm:dir/>
          <dgm:animLvl val="lvl"/>
          <dgm:resizeHandles val="exact"/>
        </dgm:presLayoutVars>
      </dgm:prSet>
      <dgm:spPr/>
    </dgm:pt>
    <dgm:pt modelId="{37075801-60CD-497A-A723-81A45BAC00AA}" type="pres">
      <dgm:prSet presAssocID="{4919175B-17B7-4F52-AFE1-E99795F45BEE}" presName="boxAndChildren" presStyleCnt="0"/>
      <dgm:spPr/>
    </dgm:pt>
    <dgm:pt modelId="{6F55FA22-8D3E-49BB-80ED-51C85B96C2E6}" type="pres">
      <dgm:prSet presAssocID="{4919175B-17B7-4F52-AFE1-E99795F45BEE}" presName="parentTextBox" presStyleLbl="node1" presStyleIdx="0" presStyleCnt="4"/>
      <dgm:spPr/>
    </dgm:pt>
    <dgm:pt modelId="{00559470-EC72-4A6F-BFBB-5924C39A6606}" type="pres">
      <dgm:prSet presAssocID="{C64E69DC-E6EB-4AFB-9237-05FAC7204C7A}" presName="sp" presStyleCnt="0"/>
      <dgm:spPr/>
    </dgm:pt>
    <dgm:pt modelId="{4EB455C7-FADB-4136-8C46-B0A4AE1094A2}" type="pres">
      <dgm:prSet presAssocID="{7F80CCD1-AFF6-4E68-9A8B-DE1C33FE51B7}" presName="arrowAndChildren" presStyleCnt="0"/>
      <dgm:spPr/>
    </dgm:pt>
    <dgm:pt modelId="{404A174E-9A7A-4713-A709-7E3AAA66DBB0}" type="pres">
      <dgm:prSet presAssocID="{7F80CCD1-AFF6-4E68-9A8B-DE1C33FE51B7}" presName="parentTextArrow" presStyleLbl="node1" presStyleIdx="1" presStyleCnt="4"/>
      <dgm:spPr/>
    </dgm:pt>
    <dgm:pt modelId="{3533B274-E13A-4798-B452-FF54FE8FB0B3}" type="pres">
      <dgm:prSet presAssocID="{6D844F3C-71AD-43AE-98AA-C7FA6D7259CC}" presName="sp" presStyleCnt="0"/>
      <dgm:spPr/>
    </dgm:pt>
    <dgm:pt modelId="{7C65FD9F-6859-48B1-9BA0-CE0A306C0034}" type="pres">
      <dgm:prSet presAssocID="{C52AE945-464A-4233-93DB-28F3071306C9}" presName="arrowAndChildren" presStyleCnt="0"/>
      <dgm:spPr/>
    </dgm:pt>
    <dgm:pt modelId="{3E97A7E2-2AFC-4BBF-AB44-B7A8B863B67E}" type="pres">
      <dgm:prSet presAssocID="{C52AE945-464A-4233-93DB-28F3071306C9}" presName="parentTextArrow" presStyleLbl="node1" presStyleIdx="2" presStyleCnt="4"/>
      <dgm:spPr/>
    </dgm:pt>
    <dgm:pt modelId="{682CDFAC-8B4A-45B3-845B-DA67D41F01C1}" type="pres">
      <dgm:prSet presAssocID="{F0788ED2-2156-42EF-B68D-8E43AEF49DB4}" presName="sp" presStyleCnt="0"/>
      <dgm:spPr/>
    </dgm:pt>
    <dgm:pt modelId="{38D7AE6A-9014-476A-9BE7-EE55C93A977E}" type="pres">
      <dgm:prSet presAssocID="{11799BBC-3EB8-4915-B885-F8FE4DDA529E}" presName="arrowAndChildren" presStyleCnt="0"/>
      <dgm:spPr/>
    </dgm:pt>
    <dgm:pt modelId="{C49F6261-D9FA-4D1D-B03B-3CC1A1F11190}" type="pres">
      <dgm:prSet presAssocID="{11799BBC-3EB8-4915-B885-F8FE4DDA529E}" presName="parentTextArrow" presStyleLbl="node1" presStyleIdx="3" presStyleCnt="4"/>
      <dgm:spPr/>
    </dgm:pt>
  </dgm:ptLst>
  <dgm:cxnLst>
    <dgm:cxn modelId="{87FA2305-0379-478E-B237-9899CC165BB7}" type="presOf" srcId="{C52AE945-464A-4233-93DB-28F3071306C9}" destId="{3E97A7E2-2AFC-4BBF-AB44-B7A8B863B67E}" srcOrd="0" destOrd="0" presId="urn:microsoft.com/office/officeart/2005/8/layout/process4"/>
    <dgm:cxn modelId="{3E977C0A-4433-430A-9354-3B3CDD8D30B3}" type="presOf" srcId="{7F80CCD1-AFF6-4E68-9A8B-DE1C33FE51B7}" destId="{404A174E-9A7A-4713-A709-7E3AAA66DBB0}" srcOrd="0" destOrd="0" presId="urn:microsoft.com/office/officeart/2005/8/layout/process4"/>
    <dgm:cxn modelId="{C3BAB10F-383C-4677-8DA4-7BB8CBCACC7A}" srcId="{C7866285-23AC-46CB-9EED-9865E47CC859}" destId="{7F80CCD1-AFF6-4E68-9A8B-DE1C33FE51B7}" srcOrd="2" destOrd="0" parTransId="{54B290A7-50CA-4738-8D2E-AF5A1451C6EA}" sibTransId="{C64E69DC-E6EB-4AFB-9237-05FAC7204C7A}"/>
    <dgm:cxn modelId="{96997317-0DE5-476C-907E-05B9BDE7AEC3}" type="presOf" srcId="{4919175B-17B7-4F52-AFE1-E99795F45BEE}" destId="{6F55FA22-8D3E-49BB-80ED-51C85B96C2E6}" srcOrd="0" destOrd="0" presId="urn:microsoft.com/office/officeart/2005/8/layout/process4"/>
    <dgm:cxn modelId="{7D2DDC18-9DA1-41AB-8EDE-812F43D5363C}" srcId="{C7866285-23AC-46CB-9EED-9865E47CC859}" destId="{4919175B-17B7-4F52-AFE1-E99795F45BEE}" srcOrd="3" destOrd="0" parTransId="{72E67971-F082-44E6-9536-CC5C0A85F1D5}" sibTransId="{C8E6EC46-B4BD-4711-9C21-317F5032F40F}"/>
    <dgm:cxn modelId="{4A97CE82-555D-450E-8EEA-35188E093090}" type="presOf" srcId="{C7866285-23AC-46CB-9EED-9865E47CC859}" destId="{C76AC1DB-A305-44F6-82FA-CED83E86B8F6}" srcOrd="0" destOrd="0" presId="urn:microsoft.com/office/officeart/2005/8/layout/process4"/>
    <dgm:cxn modelId="{9869218C-D770-4893-8068-391BBF8319E6}" type="presOf" srcId="{11799BBC-3EB8-4915-B885-F8FE4DDA529E}" destId="{C49F6261-D9FA-4D1D-B03B-3CC1A1F11190}" srcOrd="0" destOrd="0" presId="urn:microsoft.com/office/officeart/2005/8/layout/process4"/>
    <dgm:cxn modelId="{5962AADB-7657-4A0A-9254-94BD18795B3C}" srcId="{C7866285-23AC-46CB-9EED-9865E47CC859}" destId="{C52AE945-464A-4233-93DB-28F3071306C9}" srcOrd="1" destOrd="0" parTransId="{79B7921A-BAB4-4117-B130-08732269C1C9}" sibTransId="{6D844F3C-71AD-43AE-98AA-C7FA6D7259CC}"/>
    <dgm:cxn modelId="{21860FFB-A5C0-4B78-8A20-54C009F4E5BE}" srcId="{C7866285-23AC-46CB-9EED-9865E47CC859}" destId="{11799BBC-3EB8-4915-B885-F8FE4DDA529E}" srcOrd="0" destOrd="0" parTransId="{66434331-917B-4C7F-AD57-5350632937A0}" sibTransId="{F0788ED2-2156-42EF-B68D-8E43AEF49DB4}"/>
    <dgm:cxn modelId="{1588C993-7F49-480C-9D9C-02F7F1465376}" type="presParOf" srcId="{C76AC1DB-A305-44F6-82FA-CED83E86B8F6}" destId="{37075801-60CD-497A-A723-81A45BAC00AA}" srcOrd="0" destOrd="0" presId="urn:microsoft.com/office/officeart/2005/8/layout/process4"/>
    <dgm:cxn modelId="{D6A7503E-5B08-47F2-9834-CCF418017339}" type="presParOf" srcId="{37075801-60CD-497A-A723-81A45BAC00AA}" destId="{6F55FA22-8D3E-49BB-80ED-51C85B96C2E6}" srcOrd="0" destOrd="0" presId="urn:microsoft.com/office/officeart/2005/8/layout/process4"/>
    <dgm:cxn modelId="{02645C9E-5DE8-4C9D-8FC4-B182BEDC02FC}" type="presParOf" srcId="{C76AC1DB-A305-44F6-82FA-CED83E86B8F6}" destId="{00559470-EC72-4A6F-BFBB-5924C39A6606}" srcOrd="1" destOrd="0" presId="urn:microsoft.com/office/officeart/2005/8/layout/process4"/>
    <dgm:cxn modelId="{D84014B0-AC48-4101-A4BF-1E256F462888}" type="presParOf" srcId="{C76AC1DB-A305-44F6-82FA-CED83E86B8F6}" destId="{4EB455C7-FADB-4136-8C46-B0A4AE1094A2}" srcOrd="2" destOrd="0" presId="urn:microsoft.com/office/officeart/2005/8/layout/process4"/>
    <dgm:cxn modelId="{02D57460-CA3D-4C9F-BBA4-A8D8A34EE500}" type="presParOf" srcId="{4EB455C7-FADB-4136-8C46-B0A4AE1094A2}" destId="{404A174E-9A7A-4713-A709-7E3AAA66DBB0}" srcOrd="0" destOrd="0" presId="urn:microsoft.com/office/officeart/2005/8/layout/process4"/>
    <dgm:cxn modelId="{53124F62-B02D-44B2-BBB7-F5D7957A03CE}" type="presParOf" srcId="{C76AC1DB-A305-44F6-82FA-CED83E86B8F6}" destId="{3533B274-E13A-4798-B452-FF54FE8FB0B3}" srcOrd="3" destOrd="0" presId="urn:microsoft.com/office/officeart/2005/8/layout/process4"/>
    <dgm:cxn modelId="{51307560-C686-4522-BA37-899E62D697BB}" type="presParOf" srcId="{C76AC1DB-A305-44F6-82FA-CED83E86B8F6}" destId="{7C65FD9F-6859-48B1-9BA0-CE0A306C0034}" srcOrd="4" destOrd="0" presId="urn:microsoft.com/office/officeart/2005/8/layout/process4"/>
    <dgm:cxn modelId="{3FC9D7EF-3835-4F87-B74D-B5E8AB03B062}" type="presParOf" srcId="{7C65FD9F-6859-48B1-9BA0-CE0A306C0034}" destId="{3E97A7E2-2AFC-4BBF-AB44-B7A8B863B67E}" srcOrd="0" destOrd="0" presId="urn:microsoft.com/office/officeart/2005/8/layout/process4"/>
    <dgm:cxn modelId="{89CE1D9B-488E-4038-996E-AFC01C9D3C8E}" type="presParOf" srcId="{C76AC1DB-A305-44F6-82FA-CED83E86B8F6}" destId="{682CDFAC-8B4A-45B3-845B-DA67D41F01C1}" srcOrd="5" destOrd="0" presId="urn:microsoft.com/office/officeart/2005/8/layout/process4"/>
    <dgm:cxn modelId="{54213BBF-E968-41E1-A83F-1727A67B17DE}" type="presParOf" srcId="{C76AC1DB-A305-44F6-82FA-CED83E86B8F6}" destId="{38D7AE6A-9014-476A-9BE7-EE55C93A977E}" srcOrd="6" destOrd="0" presId="urn:microsoft.com/office/officeart/2005/8/layout/process4"/>
    <dgm:cxn modelId="{0052A3E2-9F8F-4472-8909-6EBA51A221AA}" type="presParOf" srcId="{38D7AE6A-9014-476A-9BE7-EE55C93A977E}" destId="{C49F6261-D9FA-4D1D-B03B-3CC1A1F1119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F9993D-8D4C-466F-ACE5-2662073D899F}">
      <dsp:nvSpPr>
        <dsp:cNvPr id="0" name=""/>
        <dsp:cNvSpPr/>
      </dsp:nvSpPr>
      <dsp:spPr>
        <a:xfrm>
          <a:off x="0" y="0"/>
          <a:ext cx="4237538" cy="1156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Jira </a:t>
          </a:r>
          <a:r>
            <a:rPr lang="en-US" sz="1600" kern="1200" dirty="0" err="1"/>
            <a:t>este</a:t>
          </a:r>
          <a:r>
            <a:rPr lang="en-US" sz="1600" kern="1200" dirty="0"/>
            <a:t> un instrument </a:t>
          </a:r>
          <a:r>
            <a:rPr lang="en-US" sz="1600" kern="1200" dirty="0" err="1"/>
            <a:t>dezvoltat</a:t>
          </a:r>
          <a:r>
            <a:rPr lang="en-US" sz="1600" kern="1200" dirty="0"/>
            <a:t> de </a:t>
          </a:r>
          <a:r>
            <a:rPr lang="en-US" sz="1600" b="1" kern="1200" dirty="0"/>
            <a:t>Atlassian</a:t>
          </a:r>
          <a:r>
            <a:rPr lang="en-US" sz="1600" kern="1200" dirty="0"/>
            <a:t>, </a:t>
          </a:r>
          <a:r>
            <a:rPr lang="en-US" sz="1600" kern="1200" dirty="0" err="1"/>
            <a:t>folosit</a:t>
          </a:r>
          <a:r>
            <a:rPr lang="en-US" sz="1600" kern="1200" dirty="0"/>
            <a:t> </a:t>
          </a:r>
          <a:r>
            <a:rPr lang="en-US" sz="1600" kern="1200" dirty="0" err="1"/>
            <a:t>pentru</a:t>
          </a:r>
          <a:r>
            <a:rPr lang="en-US" sz="1600" kern="1200" dirty="0"/>
            <a:t> </a:t>
          </a:r>
          <a:r>
            <a:rPr lang="en-US" sz="1600" kern="1200" dirty="0" err="1"/>
            <a:t>urmărirea</a:t>
          </a:r>
          <a:r>
            <a:rPr lang="en-US" sz="1600" kern="1200" dirty="0"/>
            <a:t> </a:t>
          </a:r>
          <a:r>
            <a:rPr lang="en-US" sz="1600" kern="1200" dirty="0" err="1"/>
            <a:t>sarcinilor</a:t>
          </a:r>
          <a:r>
            <a:rPr lang="en-US" sz="1600" kern="1200" dirty="0"/>
            <a:t> </a:t>
          </a:r>
          <a:r>
            <a:rPr lang="en-US" sz="1600" kern="1200" dirty="0" err="1"/>
            <a:t>și</a:t>
          </a:r>
          <a:r>
            <a:rPr lang="en-US" sz="1600" kern="1200" dirty="0"/>
            <a:t> </a:t>
          </a:r>
          <a:r>
            <a:rPr lang="en-US" sz="1600" kern="1200" dirty="0" err="1"/>
            <a:t>managementul</a:t>
          </a:r>
          <a:r>
            <a:rPr lang="en-US" sz="1600" kern="1200" dirty="0"/>
            <a:t> </a:t>
          </a:r>
          <a:r>
            <a:rPr lang="en-US" sz="1600" kern="1200" dirty="0" err="1"/>
            <a:t>proiectelor</a:t>
          </a:r>
          <a:r>
            <a:rPr lang="en-US" sz="1600" kern="1200" dirty="0"/>
            <a:t>.</a:t>
          </a:r>
        </a:p>
      </dsp:txBody>
      <dsp:txXfrm>
        <a:off x="33861" y="33861"/>
        <a:ext cx="3042608" cy="1088388"/>
      </dsp:txXfrm>
    </dsp:sp>
    <dsp:sp modelId="{57CF9067-00C8-49A8-8479-AAEA587735F7}">
      <dsp:nvSpPr>
        <dsp:cNvPr id="0" name=""/>
        <dsp:cNvSpPr/>
      </dsp:nvSpPr>
      <dsp:spPr>
        <a:xfrm>
          <a:off x="747800" y="1413023"/>
          <a:ext cx="4237538" cy="11561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/>
            <a:t>A devenit popular în echipele Agile pentru organizarea și monitorizarea lucrărilor de echipă.</a:t>
          </a:r>
          <a:endParaRPr lang="en-US" sz="1600" kern="1200" dirty="0"/>
        </a:p>
      </dsp:txBody>
      <dsp:txXfrm>
        <a:off x="781661" y="1446884"/>
        <a:ext cx="2670543" cy="1088388"/>
      </dsp:txXfrm>
    </dsp:sp>
    <dsp:sp modelId="{B7B76598-73E1-43EE-A210-2DA68AB32E19}">
      <dsp:nvSpPr>
        <dsp:cNvPr id="0" name=""/>
        <dsp:cNvSpPr/>
      </dsp:nvSpPr>
      <dsp:spPr>
        <a:xfrm>
          <a:off x="3486066" y="908831"/>
          <a:ext cx="751471" cy="75147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3655147" y="908831"/>
        <a:ext cx="413309" cy="565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D38AB-55CE-4705-8E23-B5CE28F9D987}">
      <dsp:nvSpPr>
        <dsp:cNvPr id="0" name=""/>
        <dsp:cNvSpPr/>
      </dsp:nvSpPr>
      <dsp:spPr>
        <a:xfrm>
          <a:off x="0" y="721904"/>
          <a:ext cx="3137535" cy="1992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6B6957-967A-46B9-BE67-21707D391A87}">
      <dsp:nvSpPr>
        <dsp:cNvPr id="0" name=""/>
        <dsp:cNvSpPr/>
      </dsp:nvSpPr>
      <dsp:spPr>
        <a:xfrm>
          <a:off x="348615" y="1053088"/>
          <a:ext cx="3137535" cy="19923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Jira este folosit pentru gestionarea proiectelor prin </a:t>
          </a:r>
          <a:r>
            <a:rPr lang="en-US" sz="2200" b="1" i="0" kern="1200" baseline="0"/>
            <a:t>board-uri vizuale</a:t>
          </a:r>
          <a:r>
            <a:rPr lang="en-US" sz="2200" b="0" i="0" kern="1200" baseline="0"/>
            <a:t> și planificarea resurselor echipelor.</a:t>
          </a:r>
          <a:endParaRPr lang="en-US" sz="2200" kern="1200"/>
        </a:p>
      </dsp:txBody>
      <dsp:txXfrm>
        <a:off x="406968" y="1111441"/>
        <a:ext cx="3020829" cy="1875628"/>
      </dsp:txXfrm>
    </dsp:sp>
    <dsp:sp modelId="{F7167099-95C2-4459-AECC-C4FC4BBFDF4B}">
      <dsp:nvSpPr>
        <dsp:cNvPr id="0" name=""/>
        <dsp:cNvSpPr/>
      </dsp:nvSpPr>
      <dsp:spPr>
        <a:xfrm>
          <a:off x="3834765" y="721904"/>
          <a:ext cx="3137535" cy="1992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2FC920-CE7F-4E32-AE80-E0939187CC43}">
      <dsp:nvSpPr>
        <dsp:cNvPr id="0" name=""/>
        <dsp:cNvSpPr/>
      </dsp:nvSpPr>
      <dsp:spPr>
        <a:xfrm>
          <a:off x="4183379" y="1053088"/>
          <a:ext cx="3137535" cy="19923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Kanban</a:t>
          </a:r>
          <a:r>
            <a:rPr lang="en-US" sz="2200" kern="1200"/>
            <a:t>: potrivit pentru fluxuri de lucru continue.</a:t>
          </a:r>
        </a:p>
      </dsp:txBody>
      <dsp:txXfrm>
        <a:off x="4241732" y="1111441"/>
        <a:ext cx="3020829" cy="1875628"/>
      </dsp:txXfrm>
    </dsp:sp>
    <dsp:sp modelId="{7E96A854-C13D-4C59-85C6-BDA8B76A4D7B}">
      <dsp:nvSpPr>
        <dsp:cNvPr id="0" name=""/>
        <dsp:cNvSpPr/>
      </dsp:nvSpPr>
      <dsp:spPr>
        <a:xfrm>
          <a:off x="7669530" y="721904"/>
          <a:ext cx="3137535" cy="19923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27015-B40E-463D-9C45-4FA015A58BD5}">
      <dsp:nvSpPr>
        <dsp:cNvPr id="0" name=""/>
        <dsp:cNvSpPr/>
      </dsp:nvSpPr>
      <dsp:spPr>
        <a:xfrm>
          <a:off x="8018145" y="1053088"/>
          <a:ext cx="3137535" cy="19923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Scrum</a:t>
          </a:r>
          <a:r>
            <a:rPr lang="en-US" sz="2200" kern="1200"/>
            <a:t>: ideal pentru proiectele desfășurate în sprinturi.</a:t>
          </a:r>
        </a:p>
      </dsp:txBody>
      <dsp:txXfrm>
        <a:off x="8076498" y="1111441"/>
        <a:ext cx="3020829" cy="18756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20AF7F-6F8C-4A88-A450-73866873167B}">
      <dsp:nvSpPr>
        <dsp:cNvPr id="0" name=""/>
        <dsp:cNvSpPr/>
      </dsp:nvSpPr>
      <dsp:spPr>
        <a:xfrm>
          <a:off x="0" y="0"/>
          <a:ext cx="3536442" cy="15773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 err="1"/>
            <a:t>Proiecte</a:t>
          </a:r>
          <a:r>
            <a:rPr lang="en-US" sz="1900" b="0" i="0" kern="1200" baseline="0" dirty="0"/>
            <a:t>: </a:t>
          </a:r>
          <a:r>
            <a:rPr lang="en-US" sz="1900" b="0" i="0" kern="1200" baseline="0" dirty="0" err="1"/>
            <a:t>organizate</a:t>
          </a:r>
          <a:r>
            <a:rPr lang="en-US" sz="1900" b="0" i="0" kern="1200" baseline="0" dirty="0"/>
            <a:t> </a:t>
          </a:r>
          <a:r>
            <a:rPr lang="ro-RO" sz="1900" b="0" i="0" kern="1200" baseline="0" dirty="0"/>
            <a:t>în</a:t>
          </a:r>
          <a:r>
            <a:rPr lang="en-US" sz="1900" b="0" i="0" kern="1200" baseline="0" dirty="0"/>
            <a:t> board-</a:t>
          </a:r>
          <a:r>
            <a:rPr lang="en-US" sz="1900" b="0" i="0" kern="1200" baseline="0" dirty="0" err="1"/>
            <a:t>uri</a:t>
          </a:r>
          <a:r>
            <a:rPr lang="en-US" sz="1900" b="0" i="0" kern="1200" baseline="0" dirty="0"/>
            <a:t>.</a:t>
          </a:r>
          <a:endParaRPr lang="en-US" sz="1900" kern="1200" dirty="0"/>
        </a:p>
      </dsp:txBody>
      <dsp:txXfrm>
        <a:off x="46199" y="46199"/>
        <a:ext cx="1834368" cy="1484942"/>
      </dsp:txXfrm>
    </dsp:sp>
    <dsp:sp modelId="{6F9DC3D9-B398-4464-B768-CEB193C08A13}">
      <dsp:nvSpPr>
        <dsp:cNvPr id="0" name=""/>
        <dsp:cNvSpPr/>
      </dsp:nvSpPr>
      <dsp:spPr>
        <a:xfrm>
          <a:off x="312038" y="1840230"/>
          <a:ext cx="3536442" cy="15773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 err="1"/>
            <a:t>Epicuri</a:t>
          </a:r>
          <a:r>
            <a:rPr lang="en-US" sz="1900" b="0" i="0" kern="1200" baseline="0" dirty="0"/>
            <a:t>: </a:t>
          </a:r>
          <a:r>
            <a:rPr lang="en-US" sz="1900" b="0" i="0" kern="1200" baseline="0" dirty="0" err="1"/>
            <a:t>grupuri</a:t>
          </a:r>
          <a:r>
            <a:rPr lang="en-US" sz="1900" b="0" i="0" kern="1200" baseline="0" dirty="0"/>
            <a:t> </a:t>
          </a:r>
          <a:r>
            <a:rPr lang="en-US" sz="1900" b="0" i="0" kern="1200" baseline="0" dirty="0" err="1"/>
            <a:t>mari</a:t>
          </a:r>
          <a:r>
            <a:rPr lang="en-US" sz="1900" b="0" i="0" kern="1200" baseline="0" dirty="0"/>
            <a:t> de </a:t>
          </a:r>
          <a:r>
            <a:rPr lang="en-US" sz="1900" b="0" i="0" kern="1200" baseline="0" dirty="0" err="1"/>
            <a:t>sarcini</a:t>
          </a:r>
          <a:r>
            <a:rPr lang="en-US" sz="1900" b="0" i="0" kern="1200" baseline="0" dirty="0"/>
            <a:t> </a:t>
          </a:r>
          <a:r>
            <a:rPr lang="en-US" sz="1900" b="0" i="0" kern="1200" baseline="0" dirty="0" err="1"/>
            <a:t>ce</a:t>
          </a:r>
          <a:r>
            <a:rPr lang="en-US" sz="1900" b="0" i="0" kern="1200" baseline="0" dirty="0"/>
            <a:t> </a:t>
          </a:r>
          <a:r>
            <a:rPr lang="en-US" sz="1900" b="0" i="0" kern="1200" baseline="0" dirty="0" err="1"/>
            <a:t>conțin</a:t>
          </a:r>
          <a:r>
            <a:rPr lang="en-US" sz="1900" b="0" i="0" kern="1200" baseline="0" dirty="0"/>
            <a:t> task-</a:t>
          </a:r>
          <a:r>
            <a:rPr lang="en-US" sz="1900" b="0" i="0" kern="1200" baseline="0" dirty="0" err="1"/>
            <a:t>uri</a:t>
          </a:r>
          <a:r>
            <a:rPr lang="en-US" sz="1900" b="0" i="0" kern="1200" baseline="0" dirty="0"/>
            <a:t> </a:t>
          </a:r>
          <a:r>
            <a:rPr lang="en-US" sz="1900" b="0" i="0" kern="1200" baseline="0" dirty="0" err="1"/>
            <a:t>și</a:t>
          </a:r>
          <a:r>
            <a:rPr lang="en-US" sz="1900" b="0" i="0" kern="1200" baseline="0" dirty="0"/>
            <a:t> subtask-</a:t>
          </a:r>
          <a:r>
            <a:rPr lang="en-US" sz="1900" b="0" i="0" kern="1200" baseline="0" dirty="0" err="1"/>
            <a:t>uri</a:t>
          </a:r>
          <a:r>
            <a:rPr lang="en-US" sz="1900" b="0" i="0" kern="1200" baseline="0" dirty="0"/>
            <a:t>.</a:t>
          </a:r>
          <a:endParaRPr lang="en-US" sz="1900" kern="1200" dirty="0"/>
        </a:p>
      </dsp:txBody>
      <dsp:txXfrm>
        <a:off x="358237" y="1886429"/>
        <a:ext cx="2106734" cy="1484942"/>
      </dsp:txXfrm>
    </dsp:sp>
    <dsp:sp modelId="{5EEBDAB3-BAD3-4352-84C9-5DFB0EA92A38}">
      <dsp:nvSpPr>
        <dsp:cNvPr id="0" name=""/>
        <dsp:cNvSpPr/>
      </dsp:nvSpPr>
      <dsp:spPr>
        <a:xfrm>
          <a:off x="624077" y="3680460"/>
          <a:ext cx="3536442" cy="157734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Task-uri</a:t>
          </a:r>
          <a:r>
            <a:rPr lang="en-US" sz="1900" b="0" i="0" kern="1200" baseline="0"/>
            <a:t> și </a:t>
          </a:r>
          <a:r>
            <a:rPr lang="en-US" sz="1900" b="1" i="0" kern="1200" baseline="0"/>
            <a:t>Subtasks</a:t>
          </a:r>
          <a:r>
            <a:rPr lang="en-US" sz="1900" b="0" i="0" kern="1200" baseline="0"/>
            <a:t>: sarcini de lucru atribuite membrilor echipei.</a:t>
          </a:r>
          <a:endParaRPr lang="en-US" sz="1900" kern="1200"/>
        </a:p>
      </dsp:txBody>
      <dsp:txXfrm>
        <a:off x="670276" y="3726659"/>
        <a:ext cx="2106734" cy="1484942"/>
      </dsp:txXfrm>
    </dsp:sp>
    <dsp:sp modelId="{CD0667CB-2A74-4D2F-84EC-7E89F43A3BC2}">
      <dsp:nvSpPr>
        <dsp:cNvPr id="0" name=""/>
        <dsp:cNvSpPr/>
      </dsp:nvSpPr>
      <dsp:spPr>
        <a:xfrm>
          <a:off x="2511171" y="1196149"/>
          <a:ext cx="1025271" cy="10252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2741857" y="1196149"/>
        <a:ext cx="563899" cy="771516"/>
      </dsp:txXfrm>
    </dsp:sp>
    <dsp:sp modelId="{C2E8F9D2-1D62-4991-A574-72A7339060F0}">
      <dsp:nvSpPr>
        <dsp:cNvPr id="0" name=""/>
        <dsp:cNvSpPr/>
      </dsp:nvSpPr>
      <dsp:spPr>
        <a:xfrm>
          <a:off x="2823210" y="3025863"/>
          <a:ext cx="1025271" cy="10252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053896" y="3025863"/>
        <a:ext cx="563899" cy="7715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A93D80-D0BB-4D3A-9C71-8F42F161E5A3}">
      <dsp:nvSpPr>
        <dsp:cNvPr id="0" name=""/>
        <dsp:cNvSpPr/>
      </dsp:nvSpPr>
      <dsp:spPr>
        <a:xfrm>
          <a:off x="1060" y="505488"/>
          <a:ext cx="3722005" cy="2363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8DAA7B-7524-4F16-B902-32475F8907EB}">
      <dsp:nvSpPr>
        <dsp:cNvPr id="0" name=""/>
        <dsp:cNvSpPr/>
      </dsp:nvSpPr>
      <dsp:spPr>
        <a:xfrm>
          <a:off x="414616" y="898366"/>
          <a:ext cx="3722005" cy="2363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Avantaje</a:t>
          </a:r>
          <a:r>
            <a:rPr lang="en-US" sz="2400" b="0" i="0" kern="1200" baseline="0"/>
            <a:t>: vizibilitate mare, organizare, transparență pentru echipă, scalabil pentru proiecte de dimensiuni diferite.</a:t>
          </a:r>
          <a:endParaRPr lang="en-US" sz="2400" kern="1200"/>
        </a:p>
      </dsp:txBody>
      <dsp:txXfrm>
        <a:off x="483840" y="967590"/>
        <a:ext cx="3583557" cy="2225025"/>
      </dsp:txXfrm>
    </dsp:sp>
    <dsp:sp modelId="{1B08D7D0-A1CC-4DBE-8F37-E464864C63DF}">
      <dsp:nvSpPr>
        <dsp:cNvPr id="0" name=""/>
        <dsp:cNvSpPr/>
      </dsp:nvSpPr>
      <dsp:spPr>
        <a:xfrm>
          <a:off x="4550178" y="505488"/>
          <a:ext cx="3722005" cy="2363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6325E-06B2-4FDA-8EF2-7DF4E478CB1F}">
      <dsp:nvSpPr>
        <dsp:cNvPr id="0" name=""/>
        <dsp:cNvSpPr/>
      </dsp:nvSpPr>
      <dsp:spPr>
        <a:xfrm>
          <a:off x="4963734" y="898366"/>
          <a:ext cx="3722005" cy="23634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Provocări</a:t>
          </a:r>
          <a:r>
            <a:rPr lang="en-US" sz="2400" b="0" i="0" kern="1200" baseline="0"/>
            <a:t>: configurarea inițială poate fi complexă, iar unele echipe pot considera că este dificil de personalizat.</a:t>
          </a:r>
          <a:endParaRPr lang="en-US" sz="2400" kern="1200"/>
        </a:p>
      </dsp:txBody>
      <dsp:txXfrm>
        <a:off x="5032958" y="967590"/>
        <a:ext cx="3583557" cy="22250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55FA22-8D3E-49BB-80ED-51C85B96C2E6}">
      <dsp:nvSpPr>
        <dsp:cNvPr id="0" name=""/>
        <dsp:cNvSpPr/>
      </dsp:nvSpPr>
      <dsp:spPr>
        <a:xfrm>
          <a:off x="0" y="4312535"/>
          <a:ext cx="4160520" cy="94347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Funcțiile de automatizare și integrare cu alte unelte (ex. Confluence, Slack) contribuie la eficiență și la colaborarea eficientă între membri. </a:t>
          </a:r>
          <a:endParaRPr lang="en-US" sz="1400" kern="1200"/>
        </a:p>
      </dsp:txBody>
      <dsp:txXfrm>
        <a:off x="0" y="4312535"/>
        <a:ext cx="4160520" cy="943477"/>
      </dsp:txXfrm>
    </dsp:sp>
    <dsp:sp modelId="{404A174E-9A7A-4713-A709-7E3AAA66DBB0}">
      <dsp:nvSpPr>
        <dsp:cNvPr id="0" name=""/>
        <dsp:cNvSpPr/>
      </dsp:nvSpPr>
      <dsp:spPr>
        <a:xfrm rot="10800000">
          <a:off x="0" y="2875619"/>
          <a:ext cx="4160520" cy="1451068"/>
        </a:xfrm>
        <a:prstGeom prst="upArrowCallout">
          <a:avLst/>
        </a:prstGeom>
        <a:gradFill rotWithShape="0">
          <a:gsLst>
            <a:gs pos="0">
              <a:schemeClr val="accent5">
                <a:hueOff val="-496677"/>
                <a:satOff val="1326"/>
                <a:lumOff val="-52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96677"/>
                <a:satOff val="1326"/>
                <a:lumOff val="-52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96677"/>
                <a:satOff val="1326"/>
                <a:lumOff val="-52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Suportul pentru metodologiile Agile, cum ar fi Scrum și Kanban, îl face foarte adaptabil pentru diferite tipuri de echipe.</a:t>
          </a:r>
          <a:endParaRPr lang="en-US" sz="1400" kern="1200"/>
        </a:p>
      </dsp:txBody>
      <dsp:txXfrm rot="10800000">
        <a:off x="0" y="2875619"/>
        <a:ext cx="4160520" cy="942860"/>
      </dsp:txXfrm>
    </dsp:sp>
    <dsp:sp modelId="{3E97A7E2-2AFC-4BBF-AB44-B7A8B863B67E}">
      <dsp:nvSpPr>
        <dsp:cNvPr id="0" name=""/>
        <dsp:cNvSpPr/>
      </dsp:nvSpPr>
      <dsp:spPr>
        <a:xfrm rot="10800000">
          <a:off x="0" y="1438703"/>
          <a:ext cx="4160520" cy="1451068"/>
        </a:xfrm>
        <a:prstGeom prst="upArrowCallout">
          <a:avLst/>
        </a:prstGeom>
        <a:gradFill rotWithShape="0">
          <a:gsLst>
            <a:gs pos="0">
              <a:schemeClr val="accent5">
                <a:hueOff val="-993354"/>
                <a:satOff val="2653"/>
                <a:lumOff val="-10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93354"/>
                <a:satOff val="2653"/>
                <a:lumOff val="-10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93354"/>
                <a:satOff val="2653"/>
                <a:lumOff val="-10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Permite </a:t>
          </a:r>
          <a:r>
            <a:rPr lang="en-US" sz="1400" b="1" i="0" kern="1200" baseline="0"/>
            <a:t>gestionarea eficientă a resurselor</a:t>
          </a:r>
          <a:r>
            <a:rPr lang="en-US" sz="1400" b="0" i="0" kern="1200" baseline="0"/>
            <a:t> și alocarea clară a sarcinilor pentru a asigura că nimeni nu este supraîncărcat.</a:t>
          </a:r>
          <a:endParaRPr lang="en-US" sz="1400" kern="1200"/>
        </a:p>
      </dsp:txBody>
      <dsp:txXfrm rot="10800000">
        <a:off x="0" y="1438703"/>
        <a:ext cx="4160520" cy="942860"/>
      </dsp:txXfrm>
    </dsp:sp>
    <dsp:sp modelId="{C49F6261-D9FA-4D1D-B03B-3CC1A1F11190}">
      <dsp:nvSpPr>
        <dsp:cNvPr id="0" name=""/>
        <dsp:cNvSpPr/>
      </dsp:nvSpPr>
      <dsp:spPr>
        <a:xfrm rot="10800000">
          <a:off x="0" y="1787"/>
          <a:ext cx="4160520" cy="1451068"/>
        </a:xfrm>
        <a:prstGeom prst="upArrowCallout">
          <a:avLst/>
        </a:prstGeom>
        <a:gradFill rotWithShape="0">
          <a:gsLst>
            <a:gs pos="0">
              <a:schemeClr val="accent5">
                <a:hueOff val="-1490030"/>
                <a:satOff val="3979"/>
                <a:lumOff val="-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490030"/>
                <a:satOff val="3979"/>
                <a:lumOff val="-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490030"/>
                <a:satOff val="3979"/>
                <a:lumOff val="-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Jira oferă o vizibilitate ridicată asupra progresului proiectului și a task-urilor echipei.</a:t>
          </a:r>
          <a:endParaRPr lang="en-US" sz="1400" kern="1200"/>
        </a:p>
      </dsp:txBody>
      <dsp:txXfrm rot="10800000">
        <a:off x="0" y="1787"/>
        <a:ext cx="4160520" cy="942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6FE79-2CC2-41A1-A8F7-5F95DDBBF2BA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67501-776F-4EFF-BE65-664BB4604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7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99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 err="1"/>
              <a:t>Introducere</a:t>
            </a:r>
            <a:r>
              <a:rPr lang="en-US" b="1" dirty="0"/>
              <a:t>:</a:t>
            </a:r>
          </a:p>
          <a:p>
            <a:pPr marL="457200" lvl="1" indent="0">
              <a:buFontTx/>
              <a:buNone/>
            </a:pPr>
            <a:r>
              <a:rPr lang="en-US" b="1" dirty="0"/>
              <a:t>Jira </a:t>
            </a:r>
            <a:r>
              <a:rPr lang="en-US" b="1" dirty="0" err="1"/>
              <a:t>este</a:t>
            </a:r>
            <a:r>
              <a:rPr lang="en-US" b="1" dirty="0"/>
              <a:t> un instrument </a:t>
            </a:r>
            <a:r>
              <a:rPr lang="en-US" b="1" dirty="0" err="1"/>
              <a:t>dezvoltat</a:t>
            </a:r>
            <a:r>
              <a:rPr lang="en-US" b="1" dirty="0"/>
              <a:t> de Atlassian, o </a:t>
            </a:r>
            <a:r>
              <a:rPr lang="en-US" b="1" dirty="0" err="1"/>
              <a:t>companie</a:t>
            </a:r>
            <a:r>
              <a:rPr lang="en-US" b="1" dirty="0"/>
              <a:t> </a:t>
            </a:r>
            <a:r>
              <a:rPr lang="en-US" b="1" dirty="0" err="1"/>
              <a:t>multinațională</a:t>
            </a:r>
            <a:r>
              <a:rPr lang="en-US" b="1" dirty="0"/>
              <a:t> de software din Australia, care </a:t>
            </a:r>
            <a:r>
              <a:rPr lang="en-US" b="1" dirty="0" err="1"/>
              <a:t>creează</a:t>
            </a:r>
            <a:r>
              <a:rPr lang="en-US" b="1" dirty="0"/>
              <a:t> </a:t>
            </a:r>
            <a:r>
              <a:rPr lang="en-US" b="1" dirty="0" err="1"/>
              <a:t>produse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dezvoltare</a:t>
            </a:r>
            <a:r>
              <a:rPr lang="en-US" b="1" dirty="0"/>
              <a:t> software, management de </a:t>
            </a:r>
            <a:r>
              <a:rPr lang="en-US" b="1" dirty="0" err="1"/>
              <a:t>proiect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management de </a:t>
            </a:r>
            <a:r>
              <a:rPr lang="en-US" b="1" dirty="0" err="1"/>
              <a:t>conținut</a:t>
            </a:r>
            <a:r>
              <a:rPr lang="en-US" b="1" dirty="0"/>
              <a:t>. </a:t>
            </a:r>
            <a:r>
              <a:rPr lang="en-US" b="1" dirty="0" err="1"/>
              <a:t>Inițial</a:t>
            </a:r>
            <a:r>
              <a:rPr lang="en-US" b="1" dirty="0"/>
              <a:t>, Jira a </a:t>
            </a:r>
            <a:r>
              <a:rPr lang="en-US" b="1" dirty="0" err="1"/>
              <a:t>fost</a:t>
            </a:r>
            <a:r>
              <a:rPr lang="en-US" b="1" dirty="0"/>
              <a:t> </a:t>
            </a:r>
            <a:r>
              <a:rPr lang="en-US" b="1" dirty="0" err="1"/>
              <a:t>conceput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sprijini</a:t>
            </a:r>
            <a:r>
              <a:rPr lang="en-US" b="1" dirty="0"/>
              <a:t> </a:t>
            </a:r>
            <a:r>
              <a:rPr lang="en-US" b="1" dirty="0" err="1"/>
              <a:t>echipele</a:t>
            </a:r>
            <a:r>
              <a:rPr lang="en-US" b="1" dirty="0"/>
              <a:t> de </a:t>
            </a:r>
            <a:r>
              <a:rPr lang="en-US" b="1" dirty="0" err="1"/>
              <a:t>dezvoltare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gestionarea</a:t>
            </a:r>
            <a:r>
              <a:rPr lang="en-US" b="1" dirty="0"/>
              <a:t> </a:t>
            </a:r>
            <a:r>
              <a:rPr lang="en-US" b="1" dirty="0" err="1"/>
              <a:t>sarcinilor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monitorizarea</a:t>
            </a:r>
            <a:r>
              <a:rPr lang="en-US" b="1" dirty="0"/>
              <a:t> </a:t>
            </a:r>
            <a:r>
              <a:rPr lang="en-US" b="1" dirty="0" err="1"/>
              <a:t>erorilor</a:t>
            </a:r>
            <a:r>
              <a:rPr lang="en-US" b="1" dirty="0"/>
              <a:t> (bug-</a:t>
            </a:r>
            <a:r>
              <a:rPr lang="en-US" b="1" dirty="0" err="1"/>
              <a:t>uri</a:t>
            </a:r>
            <a:r>
              <a:rPr lang="en-US" b="1" dirty="0"/>
              <a:t>). </a:t>
            </a:r>
            <a:r>
              <a:rPr lang="en-US" b="1" dirty="0" err="1"/>
              <a:t>Deși</a:t>
            </a:r>
            <a:r>
              <a:rPr lang="en-US" b="1" dirty="0"/>
              <a:t> a </a:t>
            </a:r>
            <a:r>
              <a:rPr lang="en-US" b="1" dirty="0" err="1"/>
              <a:t>fost</a:t>
            </a:r>
            <a:r>
              <a:rPr lang="en-US" b="1" dirty="0"/>
              <a:t> </a:t>
            </a:r>
            <a:r>
              <a:rPr lang="en-US" b="1" dirty="0" err="1"/>
              <a:t>destinat</a:t>
            </a:r>
            <a:r>
              <a:rPr lang="en-US" b="1" dirty="0"/>
              <a:t> </a:t>
            </a:r>
            <a:r>
              <a:rPr lang="en-US" b="1" dirty="0" err="1"/>
              <a:t>inițial</a:t>
            </a:r>
            <a:r>
              <a:rPr lang="en-US" b="1" dirty="0"/>
              <a:t> </a:t>
            </a:r>
            <a:r>
              <a:rPr lang="en-US" b="1" dirty="0" err="1"/>
              <a:t>echipelor</a:t>
            </a:r>
            <a:r>
              <a:rPr lang="en-US" b="1" dirty="0"/>
              <a:t> IT </a:t>
            </a:r>
            <a:r>
              <a:rPr lang="en-US" b="1" dirty="0" err="1"/>
              <a:t>și</a:t>
            </a:r>
            <a:r>
              <a:rPr lang="en-US" b="1" dirty="0"/>
              <a:t> de </a:t>
            </a:r>
            <a:r>
              <a:rPr lang="en-US" b="1" dirty="0" err="1"/>
              <a:t>dezvoltare</a:t>
            </a:r>
            <a:r>
              <a:rPr lang="en-US" b="1" dirty="0"/>
              <a:t> software, </a:t>
            </a:r>
            <a:r>
              <a:rPr lang="en-US" b="1" dirty="0" err="1"/>
              <a:t>popularitatea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a </a:t>
            </a:r>
            <a:r>
              <a:rPr lang="en-US" b="1" dirty="0" err="1"/>
              <a:t>crescut</a:t>
            </a:r>
            <a:r>
              <a:rPr lang="en-US" b="1" dirty="0"/>
              <a:t> rapid, </a:t>
            </a:r>
            <a:r>
              <a:rPr lang="en-US" b="1" dirty="0" err="1"/>
              <a:t>fiind</a:t>
            </a:r>
            <a:r>
              <a:rPr lang="en-US" b="1" dirty="0"/>
              <a:t> </a:t>
            </a:r>
            <a:r>
              <a:rPr lang="en-US" b="1" dirty="0" err="1"/>
              <a:t>acum</a:t>
            </a:r>
            <a:r>
              <a:rPr lang="en-US" b="1" dirty="0"/>
              <a:t> </a:t>
            </a:r>
            <a:r>
              <a:rPr lang="en-US" b="1" dirty="0" err="1"/>
              <a:t>utilizat</a:t>
            </a:r>
            <a:r>
              <a:rPr lang="en-US" b="1" dirty="0"/>
              <a:t> pe </a:t>
            </a:r>
            <a:r>
              <a:rPr lang="en-US" b="1" dirty="0" err="1"/>
              <a:t>scară</a:t>
            </a:r>
            <a:r>
              <a:rPr lang="en-US" b="1" dirty="0"/>
              <a:t> </a:t>
            </a:r>
            <a:r>
              <a:rPr lang="en-US" b="1" dirty="0" err="1"/>
              <a:t>largă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diverse </a:t>
            </a:r>
            <a:r>
              <a:rPr lang="en-US" b="1" dirty="0" err="1"/>
              <a:t>industrii</a:t>
            </a:r>
            <a:r>
              <a:rPr lang="en-US" b="1" dirty="0"/>
              <a:t>.</a:t>
            </a:r>
            <a:endParaRPr lang="ro-RO" b="1" dirty="0"/>
          </a:p>
          <a:p>
            <a:pPr marL="628650" lvl="1" indent="-171450">
              <a:buFontTx/>
              <a:buChar char="-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 err="1"/>
              <a:t>Popularitate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ro-RO" b="1" dirty="0"/>
              <a:t>c</a:t>
            </a:r>
            <a:r>
              <a:rPr lang="en-US" b="1" dirty="0" err="1"/>
              <a:t>reștere</a:t>
            </a:r>
            <a:r>
              <a:rPr lang="en-US" b="1" dirty="0"/>
              <a:t>:</a:t>
            </a:r>
          </a:p>
          <a:p>
            <a:pPr marL="457200" lvl="1" indent="0">
              <a:buFont typeface="+mj-lt"/>
              <a:buNone/>
            </a:pPr>
            <a:r>
              <a:rPr lang="ro-RO" b="1" dirty="0"/>
              <a:t>- </a:t>
            </a:r>
            <a:r>
              <a:rPr lang="en-US" b="1" dirty="0"/>
              <a:t>Jira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folosit</a:t>
            </a:r>
            <a:r>
              <a:rPr lang="en-US" b="1" dirty="0"/>
              <a:t> de </a:t>
            </a:r>
            <a:r>
              <a:rPr lang="en-US" b="1" dirty="0" err="1"/>
              <a:t>peste</a:t>
            </a:r>
            <a:r>
              <a:rPr lang="en-US" b="1" dirty="0"/>
              <a:t> 100.000 de </a:t>
            </a:r>
            <a:r>
              <a:rPr lang="en-US" b="1" dirty="0" err="1"/>
              <a:t>companii</a:t>
            </a:r>
            <a:r>
              <a:rPr lang="en-US" b="1" dirty="0"/>
              <a:t> din </a:t>
            </a:r>
            <a:r>
              <a:rPr lang="en-US" b="1" dirty="0" err="1"/>
              <a:t>întreaga</a:t>
            </a:r>
            <a:r>
              <a:rPr lang="en-US" b="1" dirty="0"/>
              <a:t> </a:t>
            </a:r>
            <a:r>
              <a:rPr lang="en-US" b="1" dirty="0" err="1"/>
              <a:t>lume</a:t>
            </a:r>
            <a:r>
              <a:rPr lang="en-US" b="1" dirty="0"/>
              <a:t>, </a:t>
            </a:r>
            <a:r>
              <a:rPr lang="en-US" b="1" dirty="0" err="1"/>
              <a:t>printre</a:t>
            </a:r>
            <a:r>
              <a:rPr lang="en-US" b="1" dirty="0"/>
              <a:t> care se </a:t>
            </a:r>
            <a:r>
              <a:rPr lang="en-US" b="1" dirty="0" err="1"/>
              <a:t>numără</a:t>
            </a:r>
            <a:r>
              <a:rPr lang="en-US" b="1" dirty="0"/>
              <a:t> </a:t>
            </a:r>
            <a:r>
              <a:rPr lang="en-US" b="1" dirty="0" err="1"/>
              <a:t>atât</a:t>
            </a:r>
            <a:r>
              <a:rPr lang="en-US" b="1" dirty="0"/>
              <a:t> </a:t>
            </a:r>
            <a:r>
              <a:rPr lang="en-US" b="1" dirty="0" err="1"/>
              <a:t>companii</a:t>
            </a:r>
            <a:r>
              <a:rPr lang="en-US" b="1" dirty="0"/>
              <a:t> IT, </a:t>
            </a:r>
            <a:r>
              <a:rPr lang="en-US" b="1" dirty="0" err="1"/>
              <a:t>cât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organizații</a:t>
            </a:r>
            <a:r>
              <a:rPr lang="en-US" b="1" dirty="0"/>
              <a:t> din diverse </a:t>
            </a:r>
            <a:r>
              <a:rPr lang="en-US" b="1" dirty="0" err="1"/>
              <a:t>alte</a:t>
            </a:r>
            <a:r>
              <a:rPr lang="en-US" b="1" dirty="0"/>
              <a:t> </a:t>
            </a:r>
            <a:r>
              <a:rPr lang="en-US" b="1" dirty="0" err="1"/>
              <a:t>industrii</a:t>
            </a:r>
            <a:r>
              <a:rPr lang="en-US" b="1" dirty="0"/>
              <a:t>.</a:t>
            </a:r>
          </a:p>
          <a:p>
            <a:pPr marL="457200" lvl="1" indent="0">
              <a:buFont typeface="+mj-lt"/>
              <a:buNone/>
            </a:pPr>
            <a:r>
              <a:rPr lang="ro-RO" b="1" dirty="0"/>
              <a:t>-</a:t>
            </a:r>
            <a:r>
              <a:rPr lang="en-US" b="1" dirty="0"/>
              <a:t> </a:t>
            </a:r>
            <a:r>
              <a:rPr lang="ro-RO" b="1" dirty="0"/>
              <a:t>E</a:t>
            </a:r>
            <a:r>
              <a:rPr lang="en-US" b="1" dirty="0" err="1"/>
              <a:t>chipele</a:t>
            </a:r>
            <a:r>
              <a:rPr lang="en-US" b="1" dirty="0"/>
              <a:t> care </a:t>
            </a:r>
            <a:r>
              <a:rPr lang="en-US" b="1" dirty="0" err="1"/>
              <a:t>folosesc</a:t>
            </a:r>
            <a:r>
              <a:rPr lang="en-US" b="1" dirty="0"/>
              <a:t> </a:t>
            </a:r>
            <a:r>
              <a:rPr lang="en-US" b="1" dirty="0" err="1"/>
              <a:t>metodologii</a:t>
            </a:r>
            <a:r>
              <a:rPr lang="en-US" b="1" dirty="0"/>
              <a:t> Agile (cum </a:t>
            </a:r>
            <a:r>
              <a:rPr lang="en-US" b="1" dirty="0" err="1"/>
              <a:t>ar</a:t>
            </a:r>
            <a:r>
              <a:rPr lang="en-US" b="1" dirty="0"/>
              <a:t> fi Scrum </a:t>
            </a:r>
            <a:r>
              <a:rPr lang="en-US" b="1" dirty="0" err="1"/>
              <a:t>și</a:t>
            </a:r>
            <a:r>
              <a:rPr lang="en-US" b="1" dirty="0"/>
              <a:t> Kanban) au </a:t>
            </a:r>
            <a:r>
              <a:rPr lang="en-US" b="1" dirty="0" err="1"/>
              <a:t>găsit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Jira un </a:t>
            </a:r>
            <a:r>
              <a:rPr lang="en-US" b="1" dirty="0" err="1"/>
              <a:t>suport</a:t>
            </a:r>
            <a:r>
              <a:rPr lang="en-US" b="1" dirty="0"/>
              <a:t> ideal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planificare</a:t>
            </a:r>
            <a:r>
              <a:rPr lang="en-US" b="1" dirty="0"/>
              <a:t>, </a:t>
            </a:r>
            <a:r>
              <a:rPr lang="en-US" b="1" dirty="0" err="1"/>
              <a:t>organizare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raportare</a:t>
            </a:r>
            <a:r>
              <a:rPr lang="en-US" b="1" dirty="0"/>
              <a:t>. </a:t>
            </a:r>
            <a:r>
              <a:rPr lang="en-US" b="1" dirty="0" err="1"/>
              <a:t>Această</a:t>
            </a:r>
            <a:r>
              <a:rPr lang="en-US" b="1" dirty="0"/>
              <a:t> </a:t>
            </a:r>
            <a:r>
              <a:rPr lang="en-US" b="1" dirty="0" err="1"/>
              <a:t>compatibilitate</a:t>
            </a:r>
            <a:r>
              <a:rPr lang="en-US" b="1" dirty="0"/>
              <a:t> a </a:t>
            </a:r>
            <a:r>
              <a:rPr lang="en-US" b="1" dirty="0" err="1"/>
              <a:t>fost</a:t>
            </a:r>
            <a:r>
              <a:rPr lang="en-US" b="1" dirty="0"/>
              <a:t> un factor </a:t>
            </a:r>
            <a:r>
              <a:rPr lang="en-US" b="1" dirty="0" err="1"/>
              <a:t>cheie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adoptarea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pe </a:t>
            </a:r>
            <a:r>
              <a:rPr lang="en-US" b="1" dirty="0" err="1"/>
              <a:t>scară</a:t>
            </a:r>
            <a:r>
              <a:rPr lang="en-US" b="1" dirty="0"/>
              <a:t> </a:t>
            </a:r>
            <a:r>
              <a:rPr lang="en-US" b="1" dirty="0" err="1"/>
              <a:t>largă</a:t>
            </a:r>
            <a:r>
              <a:rPr lang="en-US" b="1" dirty="0"/>
              <a:t>.</a:t>
            </a:r>
            <a:endParaRPr lang="ro-RO" b="1" dirty="0"/>
          </a:p>
          <a:p>
            <a:pPr marL="457200" lvl="1" indent="0">
              <a:buFontTx/>
              <a:buNone/>
            </a:pPr>
            <a:r>
              <a:rPr lang="ro-RO" b="0" dirty="0"/>
              <a:t>- </a:t>
            </a:r>
            <a:r>
              <a:rPr lang="en-US" b="0" dirty="0"/>
              <a:t>Agile = </a:t>
            </a:r>
            <a:r>
              <a:rPr lang="en-US" b="0" dirty="0" err="1"/>
              <a:t>dezvoltare</a:t>
            </a:r>
            <a:r>
              <a:rPr lang="ro-RO" b="0" dirty="0"/>
              <a:t> software</a:t>
            </a:r>
            <a:r>
              <a:rPr lang="en-US" b="0" dirty="0"/>
              <a:t> </a:t>
            </a:r>
            <a:r>
              <a:rPr lang="ro-RO" b="0" dirty="0"/>
              <a:t>în mai multe iterații (task-uri mici) scurte care dureaza intre 1 si 4 saptamani, echipa agilă conține un reprezentant al clientului, la fiecare sfârșit de iterație se face un meeting pentru evaluare, feedback continuu și adaptare rapidă, focus pe calitate</a:t>
            </a:r>
          </a:p>
          <a:p>
            <a:pPr marL="628650" lvl="1" indent="-171450">
              <a:buFontTx/>
              <a:buChar char="-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 err="1"/>
              <a:t>Utilizare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ro-RO" b="1" dirty="0"/>
              <a:t>d</a:t>
            </a:r>
            <a:r>
              <a:rPr lang="en-US" b="1" dirty="0" err="1"/>
              <a:t>iverse</a:t>
            </a:r>
            <a:r>
              <a:rPr lang="en-US" b="1" dirty="0"/>
              <a:t> </a:t>
            </a:r>
            <a:r>
              <a:rPr lang="ro-RO" b="1" dirty="0"/>
              <a:t>i</a:t>
            </a:r>
            <a:r>
              <a:rPr lang="en-US" b="1" dirty="0" err="1"/>
              <a:t>ndustrii</a:t>
            </a:r>
            <a:r>
              <a:rPr lang="en-US" b="1" dirty="0"/>
              <a:t>:</a:t>
            </a:r>
          </a:p>
          <a:p>
            <a:pPr marL="457200" lvl="1" indent="0">
              <a:buFont typeface="+mj-lt"/>
              <a:buNone/>
            </a:pPr>
            <a:r>
              <a:rPr lang="ro-RO" b="1" dirty="0"/>
              <a:t>- D</a:t>
            </a:r>
            <a:r>
              <a:rPr lang="en-US" b="1" dirty="0" err="1"/>
              <a:t>eși</a:t>
            </a:r>
            <a:r>
              <a:rPr lang="en-US" b="1" dirty="0"/>
              <a:t> Jira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preferat</a:t>
            </a:r>
            <a:r>
              <a:rPr lang="en-US" b="1" dirty="0"/>
              <a:t> de </a:t>
            </a:r>
            <a:r>
              <a:rPr lang="en-US" b="1" dirty="0" err="1"/>
              <a:t>echipele</a:t>
            </a:r>
            <a:r>
              <a:rPr lang="en-US" b="1" dirty="0"/>
              <a:t> IT, </a:t>
            </a:r>
            <a:r>
              <a:rPr lang="en-US" b="1" dirty="0" err="1"/>
              <a:t>flexibilitatea</a:t>
            </a:r>
            <a:r>
              <a:rPr lang="en-US" b="1" dirty="0"/>
              <a:t> </a:t>
            </a:r>
            <a:r>
              <a:rPr lang="en-US" b="1" dirty="0" err="1"/>
              <a:t>sa</a:t>
            </a:r>
            <a:r>
              <a:rPr lang="en-US" b="1" dirty="0"/>
              <a:t> l-a </a:t>
            </a:r>
            <a:r>
              <a:rPr lang="en-US" b="1" dirty="0" err="1"/>
              <a:t>făcut</a:t>
            </a:r>
            <a:r>
              <a:rPr lang="en-US" b="1" dirty="0"/>
              <a:t> </a:t>
            </a:r>
            <a:r>
              <a:rPr lang="en-US" b="1" dirty="0" err="1"/>
              <a:t>atractiv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alte</a:t>
            </a:r>
            <a:r>
              <a:rPr lang="en-US" b="1" dirty="0"/>
              <a:t> </a:t>
            </a:r>
            <a:r>
              <a:rPr lang="en-US" b="1" dirty="0" err="1"/>
              <a:t>domenii</a:t>
            </a:r>
            <a:r>
              <a:rPr lang="en-US" b="1" dirty="0"/>
              <a:t>, precum marketing, </a:t>
            </a:r>
            <a:r>
              <a:rPr lang="en-US" b="1" dirty="0" err="1"/>
              <a:t>resurse</a:t>
            </a:r>
            <a:r>
              <a:rPr lang="en-US" b="1" dirty="0"/>
              <a:t> </a:t>
            </a:r>
            <a:r>
              <a:rPr lang="en-US" b="1" dirty="0" err="1"/>
              <a:t>umane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servicii</a:t>
            </a:r>
            <a:r>
              <a:rPr lang="en-US" b="1" dirty="0"/>
              <a:t> </a:t>
            </a:r>
            <a:r>
              <a:rPr lang="en-US" b="1" dirty="0" err="1"/>
              <a:t>financiare</a:t>
            </a:r>
            <a:r>
              <a:rPr lang="en-US" b="1" dirty="0"/>
              <a:t>. </a:t>
            </a:r>
            <a:r>
              <a:rPr lang="en-US" b="1" dirty="0" err="1"/>
              <a:t>Mulți</a:t>
            </a:r>
            <a:r>
              <a:rPr lang="en-US" b="1" dirty="0"/>
              <a:t> </a:t>
            </a:r>
            <a:r>
              <a:rPr lang="en-US" b="1" dirty="0" err="1"/>
              <a:t>utilizatori</a:t>
            </a:r>
            <a:r>
              <a:rPr lang="en-US" b="1" dirty="0"/>
              <a:t> non-</a:t>
            </a:r>
            <a:r>
              <a:rPr lang="en-US" b="1" dirty="0" err="1"/>
              <a:t>tehnici</a:t>
            </a:r>
            <a:r>
              <a:rPr lang="en-US" b="1" dirty="0"/>
              <a:t> au </a:t>
            </a:r>
            <a:r>
              <a:rPr lang="en-US" b="1" dirty="0" err="1"/>
              <a:t>descoperit</a:t>
            </a:r>
            <a:r>
              <a:rPr lang="en-US" b="1" dirty="0"/>
              <a:t> </a:t>
            </a:r>
            <a:r>
              <a:rPr lang="en-US" b="1" dirty="0" err="1"/>
              <a:t>că</a:t>
            </a:r>
            <a:r>
              <a:rPr lang="en-US" b="1" dirty="0"/>
              <a:t> Jira le </a:t>
            </a:r>
            <a:r>
              <a:rPr lang="en-US" b="1" dirty="0" err="1"/>
              <a:t>poate</a:t>
            </a:r>
            <a:r>
              <a:rPr lang="en-US" b="1" dirty="0"/>
              <a:t> </a:t>
            </a:r>
            <a:r>
              <a:rPr lang="en-US" b="1" dirty="0" err="1"/>
              <a:t>satisface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lor </a:t>
            </a:r>
            <a:r>
              <a:rPr lang="en-US" b="1" dirty="0" err="1"/>
              <a:t>nevoile</a:t>
            </a:r>
            <a:r>
              <a:rPr lang="en-US" b="1" dirty="0"/>
              <a:t> de management al </a:t>
            </a:r>
            <a:r>
              <a:rPr lang="en-US" b="1" dirty="0" err="1"/>
              <a:t>proiectelor</a:t>
            </a:r>
            <a:r>
              <a:rPr lang="en-US" b="1" dirty="0"/>
              <a:t>.</a:t>
            </a:r>
            <a:endParaRPr lang="ro-RO" b="1" dirty="0"/>
          </a:p>
          <a:p>
            <a:pPr marL="742950" lvl="1" indent="-285750">
              <a:buFont typeface="+mj-lt"/>
              <a:buAutoNum type="arabicPeriod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 err="1"/>
              <a:t>Impactul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ro-RO" b="1" dirty="0"/>
              <a:t>p</a:t>
            </a:r>
            <a:r>
              <a:rPr lang="en-US" b="1" dirty="0" err="1"/>
              <a:t>roiectele</a:t>
            </a:r>
            <a:r>
              <a:rPr lang="en-US" b="1" dirty="0"/>
              <a:t> IT:</a:t>
            </a:r>
          </a:p>
          <a:p>
            <a:pPr marL="457200" lvl="1" indent="0">
              <a:buFont typeface="+mj-lt"/>
              <a:buNone/>
            </a:pPr>
            <a:r>
              <a:rPr lang="en-US" b="1" dirty="0"/>
              <a:t>- </a:t>
            </a:r>
            <a:r>
              <a:rPr lang="ro-RO" b="1" dirty="0"/>
              <a:t>D</a:t>
            </a:r>
            <a:r>
              <a:rPr lang="en-US" b="1" dirty="0" err="1"/>
              <a:t>atorită</a:t>
            </a:r>
            <a:r>
              <a:rPr lang="en-US" b="1" dirty="0"/>
              <a:t> </a:t>
            </a:r>
            <a:r>
              <a:rPr lang="en-US" b="1" dirty="0" err="1"/>
              <a:t>integrării</a:t>
            </a:r>
            <a:r>
              <a:rPr lang="en-US" b="1" dirty="0"/>
              <a:t> sale cu </a:t>
            </a:r>
            <a:r>
              <a:rPr lang="en-US" b="1" dirty="0" err="1"/>
              <a:t>alte</a:t>
            </a:r>
            <a:r>
              <a:rPr lang="en-US" b="1" dirty="0"/>
              <a:t> </a:t>
            </a:r>
            <a:r>
              <a:rPr lang="en-US" b="1" dirty="0" err="1"/>
              <a:t>unelte</a:t>
            </a:r>
            <a:r>
              <a:rPr lang="en-US" b="1" dirty="0"/>
              <a:t> Atlassian (ex. Confluence</a:t>
            </a:r>
            <a:r>
              <a:rPr lang="ro-RO" b="1" dirty="0"/>
              <a:t> -</a:t>
            </a:r>
            <a:r>
              <a:rPr lang="en-US" b="1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wiki </a:t>
            </a:r>
            <a:r>
              <a:rPr lang="en-US" b="1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corporativ</a:t>
            </a:r>
            <a:r>
              <a:rPr lang="en-US" b="1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o-RO" b="1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web-based </a:t>
            </a:r>
            <a:r>
              <a:rPr lang="ro-RO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(care ruleaza in browser)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;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scris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în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limbajul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programare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Java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publicat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pentru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prima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dată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în</a:t>
            </a:r>
            <a:r>
              <a:rPr lang="en-US" b="0" i="0" dirty="0">
                <a:solidFill>
                  <a:srgbClr val="CDCDCD"/>
                </a:solidFill>
                <a:effectLst/>
                <a:latin typeface="Arial" panose="020B0604020202020204" pitchFamily="34" charset="0"/>
              </a:rPr>
              <a:t> 2004.</a:t>
            </a:r>
            <a:r>
              <a:rPr lang="en-US" b="0" dirty="0"/>
              <a:t>, </a:t>
            </a:r>
            <a:r>
              <a:rPr lang="en-US" b="1" dirty="0"/>
              <a:t>Bitbucket - </a:t>
            </a:r>
            <a:r>
              <a:rPr lang="en-US" b="1" dirty="0" err="1"/>
              <a:t>permite</a:t>
            </a:r>
            <a:r>
              <a:rPr lang="en-US" b="1" dirty="0"/>
              <a:t> </a:t>
            </a:r>
            <a:r>
              <a:rPr lang="en-US" b="1" dirty="0" err="1"/>
              <a:t>utilizatorilor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efectueze</a:t>
            </a:r>
            <a:r>
              <a:rPr lang="en-US" b="1" dirty="0"/>
              <a:t> </a:t>
            </a:r>
            <a:r>
              <a:rPr lang="en-US" b="1" dirty="0" err="1"/>
              <a:t>operațiuni</a:t>
            </a:r>
            <a:r>
              <a:rPr lang="en-US" b="1" dirty="0"/>
              <a:t> de </a:t>
            </a:r>
            <a:r>
              <a:rPr lang="en-US" b="1" dirty="0" err="1"/>
              <a:t>bază</a:t>
            </a:r>
            <a:r>
              <a:rPr lang="en-US" b="1" dirty="0"/>
              <a:t> Git </a:t>
            </a:r>
            <a:r>
              <a:rPr lang="en-US" b="0" dirty="0"/>
              <a:t>(cum </a:t>
            </a:r>
            <a:r>
              <a:rPr lang="en-US" b="0" dirty="0" err="1"/>
              <a:t>ar</a:t>
            </a:r>
            <a:r>
              <a:rPr lang="en-US" b="0" dirty="0"/>
              <a:t> fi review </a:t>
            </a:r>
            <a:r>
              <a:rPr lang="en-US" b="0" dirty="0" err="1"/>
              <a:t>sau</a:t>
            </a:r>
            <a:r>
              <a:rPr lang="en-US" b="0" dirty="0"/>
              <a:t> merge a </a:t>
            </a:r>
            <a:r>
              <a:rPr lang="en-US" b="0" dirty="0" err="1"/>
              <a:t>codului</a:t>
            </a:r>
            <a:r>
              <a:rPr lang="en-US" b="0" dirty="0"/>
              <a:t>, similar cu GitHub) </a:t>
            </a:r>
            <a:r>
              <a:rPr lang="en-US" b="0" dirty="0" err="1"/>
              <a:t>în</a:t>
            </a:r>
            <a:r>
              <a:rPr lang="en-US" b="0" dirty="0"/>
              <a:t> </a:t>
            </a:r>
            <a:r>
              <a:rPr lang="en-US" b="0" dirty="0" err="1"/>
              <a:t>timp</a:t>
            </a:r>
            <a:r>
              <a:rPr lang="en-US" b="0" dirty="0"/>
              <a:t> </a:t>
            </a:r>
            <a:r>
              <a:rPr lang="en-US" b="0" dirty="0" err="1"/>
              <a:t>ce</a:t>
            </a:r>
            <a:r>
              <a:rPr lang="en-US" b="0" dirty="0"/>
              <a:t> </a:t>
            </a:r>
            <a:r>
              <a:rPr lang="en-US" b="0" dirty="0" err="1"/>
              <a:t>controlează</a:t>
            </a:r>
            <a:r>
              <a:rPr lang="en-US" b="0" dirty="0"/>
              <a:t> </a:t>
            </a:r>
            <a:r>
              <a:rPr lang="en-US" b="0" dirty="0" err="1"/>
              <a:t>accesul</a:t>
            </a:r>
            <a:r>
              <a:rPr lang="en-US" b="0" dirty="0"/>
              <a:t> de read </a:t>
            </a:r>
            <a:r>
              <a:rPr lang="en-US" b="0" dirty="0" err="1"/>
              <a:t>și</a:t>
            </a:r>
            <a:r>
              <a:rPr lang="en-US" b="0" dirty="0"/>
              <a:t> write la cod) </a:t>
            </a:r>
            <a:r>
              <a:rPr lang="en-US" b="1" dirty="0" err="1"/>
              <a:t>și</a:t>
            </a:r>
            <a:r>
              <a:rPr lang="en-US" b="1" dirty="0"/>
              <a:t> cu </a:t>
            </a:r>
            <a:r>
              <a:rPr lang="en-US" b="1" dirty="0" err="1"/>
              <a:t>platforme</a:t>
            </a:r>
            <a:r>
              <a:rPr lang="en-US" b="1" dirty="0"/>
              <a:t> externe (ex. GitHub, Slack), Jira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acum</a:t>
            </a:r>
            <a:r>
              <a:rPr lang="en-US" b="1" dirty="0"/>
              <a:t> </a:t>
            </a:r>
            <a:r>
              <a:rPr lang="en-US" b="1" dirty="0" err="1"/>
              <a:t>văzut</a:t>
            </a:r>
            <a:r>
              <a:rPr lang="en-US" b="1" dirty="0"/>
              <a:t> nu </a:t>
            </a:r>
            <a:r>
              <a:rPr lang="en-US" b="1" dirty="0" err="1"/>
              <a:t>doar</a:t>
            </a:r>
            <a:r>
              <a:rPr lang="en-US" b="1" dirty="0"/>
              <a:t> ca un instrument de task management, ci ca un element central al </a:t>
            </a:r>
            <a:r>
              <a:rPr lang="en-US" b="1" dirty="0" err="1"/>
              <a:t>ecosistemului</a:t>
            </a:r>
            <a:r>
              <a:rPr lang="en-US" b="1" dirty="0"/>
              <a:t> IT.</a:t>
            </a:r>
          </a:p>
          <a:p>
            <a:pPr marL="457200" lvl="1" indent="0">
              <a:buFont typeface="+mj-lt"/>
              <a:buNone/>
            </a:pPr>
            <a:r>
              <a:rPr lang="en-US" b="1" dirty="0"/>
              <a:t>- </a:t>
            </a:r>
            <a:r>
              <a:rPr lang="en-US" b="1" dirty="0" err="1"/>
              <a:t>Integrarea</a:t>
            </a:r>
            <a:r>
              <a:rPr lang="en-US" b="1" dirty="0"/>
              <a:t> Jira </a:t>
            </a:r>
            <a:r>
              <a:rPr lang="en-US" b="1" dirty="0" err="1"/>
              <a:t>într</a:t>
            </a:r>
            <a:r>
              <a:rPr lang="en-US" b="1" dirty="0"/>
              <a:t>-un </a:t>
            </a:r>
            <a:r>
              <a:rPr lang="en-US" b="1" dirty="0" err="1"/>
              <a:t>proiect</a:t>
            </a:r>
            <a:r>
              <a:rPr lang="en-US" b="1" dirty="0"/>
              <a:t> de IT </a:t>
            </a:r>
            <a:r>
              <a:rPr lang="en-US" b="1" dirty="0" err="1"/>
              <a:t>permite</a:t>
            </a:r>
            <a:r>
              <a:rPr lang="en-US" b="1" dirty="0"/>
              <a:t> </a:t>
            </a:r>
            <a:r>
              <a:rPr lang="en-US" b="1" dirty="0" err="1"/>
              <a:t>echipelor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vizualizeze</a:t>
            </a:r>
            <a:r>
              <a:rPr lang="en-US" b="1" dirty="0"/>
              <a:t> </a:t>
            </a:r>
            <a:r>
              <a:rPr lang="en-US" b="1" dirty="0" err="1"/>
              <a:t>fluxul</a:t>
            </a:r>
            <a:r>
              <a:rPr lang="en-US" b="1" dirty="0"/>
              <a:t> de </a:t>
            </a:r>
            <a:r>
              <a:rPr lang="en-US" b="1" dirty="0" err="1"/>
              <a:t>lucru</a:t>
            </a:r>
            <a:r>
              <a:rPr lang="en-US" b="1" dirty="0"/>
              <a:t> </a:t>
            </a:r>
            <a:r>
              <a:rPr lang="en-US" b="1" dirty="0" err="1"/>
              <a:t>complet</a:t>
            </a:r>
            <a:r>
              <a:rPr lang="en-US" b="1" dirty="0"/>
              <a:t>,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aloce</a:t>
            </a:r>
            <a:r>
              <a:rPr lang="en-US" b="1" dirty="0"/>
              <a:t> </a:t>
            </a:r>
            <a:r>
              <a:rPr lang="en-US" b="1" dirty="0" err="1"/>
              <a:t>resurse</a:t>
            </a:r>
            <a:r>
              <a:rPr lang="en-US" b="1" dirty="0"/>
              <a:t> </a:t>
            </a:r>
            <a:r>
              <a:rPr lang="en-US" b="1" dirty="0" err="1"/>
              <a:t>eficient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ofere</a:t>
            </a:r>
            <a:r>
              <a:rPr lang="en-US" b="1" dirty="0"/>
              <a:t> </a:t>
            </a:r>
            <a:r>
              <a:rPr lang="en-US" b="1" dirty="0" err="1"/>
              <a:t>rapoarte</a:t>
            </a:r>
            <a:r>
              <a:rPr lang="en-US" b="1" dirty="0"/>
              <a:t> de </a:t>
            </a:r>
            <a:r>
              <a:rPr lang="en-US" b="1" dirty="0" err="1"/>
              <a:t>progres</a:t>
            </a:r>
            <a:r>
              <a:rPr lang="en-US" b="1" dirty="0"/>
              <a:t> care </a:t>
            </a:r>
            <a:r>
              <a:rPr lang="en-US" b="1" dirty="0" err="1"/>
              <a:t>ajută</a:t>
            </a:r>
            <a:r>
              <a:rPr lang="en-US" b="1" dirty="0"/>
              <a:t> </a:t>
            </a:r>
            <a:r>
              <a:rPr lang="en-US" b="1" dirty="0" err="1"/>
              <a:t>managerii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ia</a:t>
            </a:r>
            <a:r>
              <a:rPr lang="en-US" b="1" dirty="0"/>
              <a:t> </a:t>
            </a:r>
            <a:r>
              <a:rPr lang="en-US" b="1" dirty="0" err="1"/>
              <a:t>decizii</a:t>
            </a:r>
            <a:r>
              <a:rPr lang="en-US" b="1" dirty="0"/>
              <a:t> </a:t>
            </a:r>
            <a:r>
              <a:rPr lang="en-US" b="1" dirty="0" err="1"/>
              <a:t>informate</a:t>
            </a:r>
            <a:r>
              <a:rPr lang="en-US" b="1" dirty="0"/>
              <a:t>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44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Scrum: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Structură</a:t>
            </a:r>
            <a:r>
              <a:rPr lang="en-US" b="1" dirty="0"/>
              <a:t>: </a:t>
            </a:r>
            <a:r>
              <a:rPr lang="en-US" b="1" dirty="0" err="1"/>
              <a:t>Organizat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sprinturi</a:t>
            </a:r>
            <a:r>
              <a:rPr lang="en-US" b="1" dirty="0"/>
              <a:t> de 1-4 </a:t>
            </a:r>
            <a:r>
              <a:rPr lang="en-US" b="1" dirty="0" err="1"/>
              <a:t>săptămâni</a:t>
            </a:r>
            <a:r>
              <a:rPr lang="en-US" b="1" dirty="0"/>
              <a:t>, </a:t>
            </a:r>
            <a:r>
              <a:rPr lang="en-US" b="1" dirty="0" err="1"/>
              <a:t>unde</a:t>
            </a:r>
            <a:r>
              <a:rPr lang="en-US" b="1" dirty="0"/>
              <a:t> </a:t>
            </a:r>
            <a:r>
              <a:rPr lang="en-US" b="1" dirty="0" err="1"/>
              <a:t>echipa</a:t>
            </a:r>
            <a:r>
              <a:rPr lang="en-US" b="1" dirty="0"/>
              <a:t> </a:t>
            </a:r>
            <a:r>
              <a:rPr lang="en-US" b="1" dirty="0" err="1"/>
              <a:t>finalizează</a:t>
            </a:r>
            <a:r>
              <a:rPr lang="en-US" b="1" dirty="0"/>
              <a:t> o </a:t>
            </a:r>
            <a:r>
              <a:rPr lang="en-US" b="1" dirty="0" err="1"/>
              <a:t>parte</a:t>
            </a:r>
            <a:r>
              <a:rPr lang="en-US" b="1" dirty="0"/>
              <a:t> </a:t>
            </a:r>
            <a:r>
              <a:rPr lang="en-US" b="1" dirty="0" err="1"/>
              <a:t>clară</a:t>
            </a:r>
            <a:r>
              <a:rPr lang="en-US" b="1" dirty="0"/>
              <a:t> din </a:t>
            </a:r>
            <a:r>
              <a:rPr lang="en-US" b="1" dirty="0" err="1"/>
              <a:t>proiect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Ideal </a:t>
            </a:r>
            <a:r>
              <a:rPr lang="en-US" b="1" dirty="0" err="1"/>
              <a:t>pentru</a:t>
            </a:r>
            <a:r>
              <a:rPr lang="en-US" b="1" dirty="0"/>
              <a:t>: </a:t>
            </a:r>
            <a:r>
              <a:rPr lang="en-US" b="1" dirty="0" err="1"/>
              <a:t>Proiecte</a:t>
            </a:r>
            <a:r>
              <a:rPr lang="en-US" b="1" dirty="0"/>
              <a:t> cu </a:t>
            </a:r>
            <a:r>
              <a:rPr lang="en-US" b="1" dirty="0" err="1"/>
              <a:t>obiective</a:t>
            </a:r>
            <a:r>
              <a:rPr lang="en-US" b="1" dirty="0"/>
              <a:t> bine definite, </a:t>
            </a:r>
            <a:r>
              <a:rPr lang="en-US" b="1" dirty="0" err="1"/>
              <a:t>unde</a:t>
            </a:r>
            <a:r>
              <a:rPr lang="en-US" b="1" dirty="0"/>
              <a:t> </a:t>
            </a:r>
            <a:r>
              <a:rPr lang="en-US" b="1" dirty="0" err="1"/>
              <a:t>echipa</a:t>
            </a:r>
            <a:r>
              <a:rPr lang="en-US" b="1" dirty="0"/>
              <a:t> </a:t>
            </a:r>
            <a:r>
              <a:rPr lang="en-US" b="1" dirty="0" err="1"/>
              <a:t>poate</a:t>
            </a:r>
            <a:r>
              <a:rPr lang="en-US" b="1" dirty="0"/>
              <a:t> </a:t>
            </a:r>
            <a:r>
              <a:rPr lang="en-US" b="1" dirty="0" err="1"/>
              <a:t>lucra</a:t>
            </a:r>
            <a:r>
              <a:rPr lang="en-US" b="1" dirty="0"/>
              <a:t> </a:t>
            </a:r>
            <a:r>
              <a:rPr lang="en-US" b="1" dirty="0" err="1"/>
              <a:t>iterativ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livrează</a:t>
            </a:r>
            <a:r>
              <a:rPr lang="en-US" b="1" dirty="0"/>
              <a:t> </a:t>
            </a:r>
            <a:r>
              <a:rPr lang="en-US" b="1" dirty="0" err="1"/>
              <a:t>rezultate</a:t>
            </a:r>
            <a:r>
              <a:rPr lang="en-US" b="1" dirty="0"/>
              <a:t> la </a:t>
            </a:r>
            <a:r>
              <a:rPr lang="en-US" b="1" dirty="0" err="1"/>
              <a:t>finalul</a:t>
            </a:r>
            <a:r>
              <a:rPr lang="en-US" b="1" dirty="0"/>
              <a:t> </a:t>
            </a:r>
            <a:r>
              <a:rPr lang="en-US" b="1" dirty="0" err="1"/>
              <a:t>fiecărui</a:t>
            </a:r>
            <a:r>
              <a:rPr lang="en-US" b="1" dirty="0"/>
              <a:t> sprint.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Roluri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ro-RO" b="1" dirty="0"/>
              <a:t>meeting-uri</a:t>
            </a:r>
            <a:r>
              <a:rPr lang="en-US" b="1" dirty="0"/>
              <a:t>: Scrum include </a:t>
            </a:r>
            <a:r>
              <a:rPr lang="en-US" b="1" dirty="0" err="1"/>
              <a:t>roluri</a:t>
            </a:r>
            <a:r>
              <a:rPr lang="en-US" b="1" dirty="0"/>
              <a:t> </a:t>
            </a:r>
            <a:r>
              <a:rPr lang="en-US" b="1" dirty="0" err="1"/>
              <a:t>specifice</a:t>
            </a:r>
            <a:r>
              <a:rPr lang="en-US" b="1" dirty="0"/>
              <a:t> (ex. Scrum Master, Product Owner)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ro-RO" b="1" dirty="0"/>
              <a:t>meeting-uri</a:t>
            </a:r>
            <a:r>
              <a:rPr lang="en-US" b="1" dirty="0"/>
              <a:t> (stand-up </a:t>
            </a:r>
            <a:r>
              <a:rPr lang="en-US" b="1" dirty="0" err="1"/>
              <a:t>zilnice</a:t>
            </a:r>
            <a:r>
              <a:rPr lang="en-US" b="1" dirty="0"/>
              <a:t>, review de sprint)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menține</a:t>
            </a:r>
            <a:r>
              <a:rPr lang="en-US" b="1" dirty="0"/>
              <a:t> </a:t>
            </a:r>
            <a:r>
              <a:rPr lang="en-US" b="1" dirty="0" err="1"/>
              <a:t>echipa</a:t>
            </a:r>
            <a:r>
              <a:rPr lang="en-US" b="1" dirty="0"/>
              <a:t> </a:t>
            </a:r>
            <a:r>
              <a:rPr lang="en-US" b="1" dirty="0" err="1"/>
              <a:t>sincronizată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/>
              <a:t>Kanban: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Structură</a:t>
            </a:r>
            <a:r>
              <a:rPr lang="en-US" b="1" dirty="0"/>
              <a:t>: Un </a:t>
            </a:r>
            <a:r>
              <a:rPr lang="en-US" b="1" dirty="0" err="1"/>
              <a:t>proces</a:t>
            </a:r>
            <a:r>
              <a:rPr lang="en-US" b="1" dirty="0"/>
              <a:t> </a:t>
            </a:r>
            <a:r>
              <a:rPr lang="en-US" b="1" dirty="0" err="1"/>
              <a:t>continuu</a:t>
            </a:r>
            <a:r>
              <a:rPr lang="en-US" b="1" dirty="0"/>
              <a:t> </a:t>
            </a:r>
            <a:r>
              <a:rPr lang="en-US" b="1" dirty="0" err="1"/>
              <a:t>unde</a:t>
            </a:r>
            <a:r>
              <a:rPr lang="en-US" b="1" dirty="0"/>
              <a:t> task-urile </a:t>
            </a:r>
            <a:r>
              <a:rPr lang="en-US" b="1" dirty="0" err="1"/>
              <a:t>avansează</a:t>
            </a:r>
            <a:r>
              <a:rPr lang="en-US" b="1" dirty="0"/>
              <a:t> pe board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etape</a:t>
            </a:r>
            <a:r>
              <a:rPr lang="en-US" b="1" dirty="0"/>
              <a:t> (ex. To Do, In Progress, Done).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Ideal </a:t>
            </a:r>
            <a:r>
              <a:rPr lang="en-US" b="1" dirty="0" err="1"/>
              <a:t>pentru</a:t>
            </a:r>
            <a:r>
              <a:rPr lang="en-US" b="1" dirty="0"/>
              <a:t>: </a:t>
            </a:r>
            <a:r>
              <a:rPr lang="en-US" b="1" dirty="0" err="1"/>
              <a:t>Fluxuri</a:t>
            </a:r>
            <a:r>
              <a:rPr lang="en-US" b="1" dirty="0"/>
              <a:t> de </a:t>
            </a:r>
            <a:r>
              <a:rPr lang="en-US" b="1" dirty="0" err="1"/>
              <a:t>lucru</a:t>
            </a:r>
            <a:r>
              <a:rPr lang="en-US" b="1" dirty="0"/>
              <a:t> </a:t>
            </a:r>
            <a:r>
              <a:rPr lang="en-US" b="1" dirty="0" err="1"/>
              <a:t>constante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cerințe</a:t>
            </a:r>
            <a:r>
              <a:rPr lang="en-US" b="1" dirty="0"/>
              <a:t> </a:t>
            </a:r>
            <a:r>
              <a:rPr lang="en-US" b="1" dirty="0" err="1"/>
              <a:t>dinamice</a:t>
            </a:r>
            <a:r>
              <a:rPr lang="en-US" b="1" dirty="0"/>
              <a:t>, </a:t>
            </a:r>
            <a:r>
              <a:rPr lang="en-US" b="1" dirty="0" err="1"/>
              <a:t>unde</a:t>
            </a:r>
            <a:r>
              <a:rPr lang="en-US" b="1" dirty="0"/>
              <a:t> task-urile apar des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trebuie</a:t>
            </a:r>
            <a:r>
              <a:rPr lang="en-US" b="1" dirty="0"/>
              <a:t> </a:t>
            </a:r>
            <a:r>
              <a:rPr lang="en-US" b="1" dirty="0" err="1"/>
              <a:t>rezolvate</a:t>
            </a:r>
            <a:r>
              <a:rPr lang="en-US" b="1" dirty="0"/>
              <a:t> rapid.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Limitări</a:t>
            </a:r>
            <a:r>
              <a:rPr lang="en-US" b="1" dirty="0"/>
              <a:t> de </a:t>
            </a:r>
            <a:r>
              <a:rPr lang="en-US" b="1" dirty="0" err="1"/>
              <a:t>sarcini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lucru</a:t>
            </a:r>
            <a:r>
              <a:rPr lang="en-US" b="1" dirty="0"/>
              <a:t>: Se </a:t>
            </a:r>
            <a:r>
              <a:rPr lang="en-US" b="1" dirty="0" err="1"/>
              <a:t>limitează</a:t>
            </a:r>
            <a:r>
              <a:rPr lang="en-US" b="1" dirty="0"/>
              <a:t> </a:t>
            </a:r>
            <a:r>
              <a:rPr lang="en-US" b="1" dirty="0" err="1"/>
              <a:t>numărul</a:t>
            </a:r>
            <a:r>
              <a:rPr lang="en-US" b="1" dirty="0"/>
              <a:t> de task-</a:t>
            </a:r>
            <a:r>
              <a:rPr lang="en-US" b="1" dirty="0" err="1"/>
              <a:t>uri</a:t>
            </a:r>
            <a:r>
              <a:rPr lang="en-US" b="1" dirty="0"/>
              <a:t> active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evita</a:t>
            </a:r>
            <a:r>
              <a:rPr lang="en-US" b="1" dirty="0"/>
              <a:t> </a:t>
            </a:r>
            <a:r>
              <a:rPr lang="en-US" b="1" dirty="0" err="1"/>
              <a:t>supraîncărcarea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 err="1"/>
              <a:t>Rezumat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Scrum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potrivit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echipe</a:t>
            </a:r>
            <a:r>
              <a:rPr lang="en-US" b="1" dirty="0"/>
              <a:t> cu </a:t>
            </a:r>
            <a:r>
              <a:rPr lang="en-US" b="1" dirty="0" err="1"/>
              <a:t>obiective</a:t>
            </a:r>
            <a:r>
              <a:rPr lang="en-US" b="1" dirty="0"/>
              <a:t> </a:t>
            </a:r>
            <a:r>
              <a:rPr lang="en-US" b="1" dirty="0" err="1"/>
              <a:t>clare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lucrul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sprinturi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Kanban </a:t>
            </a:r>
            <a:r>
              <a:rPr lang="en-US" b="1" dirty="0" err="1"/>
              <a:t>este</a:t>
            </a:r>
            <a:r>
              <a:rPr lang="en-US" b="1" dirty="0"/>
              <a:t> </a:t>
            </a:r>
            <a:r>
              <a:rPr lang="en-US" b="1" dirty="0" err="1"/>
              <a:t>flexibil</a:t>
            </a:r>
            <a:r>
              <a:rPr lang="en-US" b="1" dirty="0"/>
              <a:t>, ideal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echipele</a:t>
            </a:r>
            <a:r>
              <a:rPr lang="en-US" b="1" dirty="0"/>
              <a:t> cu </a:t>
            </a:r>
            <a:r>
              <a:rPr lang="en-US" b="1" dirty="0" err="1"/>
              <a:t>cerințe</a:t>
            </a:r>
            <a:r>
              <a:rPr lang="en-US" b="1" dirty="0"/>
              <a:t> </a:t>
            </a:r>
            <a:r>
              <a:rPr lang="en-US" b="1" dirty="0" err="1"/>
              <a:t>schimbătoare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flux </a:t>
            </a:r>
            <a:r>
              <a:rPr lang="en-US" b="1" dirty="0" err="1"/>
              <a:t>continuu</a:t>
            </a:r>
            <a:r>
              <a:rPr lang="en-US" b="1" dirty="0"/>
              <a:t> de </a:t>
            </a:r>
            <a:r>
              <a:rPr lang="en-US" b="1" dirty="0" err="1"/>
              <a:t>lucru</a:t>
            </a:r>
            <a:r>
              <a:rPr lang="en-US" b="1" dirty="0"/>
              <a:t>.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09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Aceste</a:t>
            </a:r>
            <a:r>
              <a:rPr lang="en-US" b="1" dirty="0"/>
              <a:t> </a:t>
            </a:r>
            <a:r>
              <a:rPr lang="en-US" b="1" dirty="0" err="1"/>
              <a:t>elemente</a:t>
            </a:r>
            <a:r>
              <a:rPr lang="en-US" b="1" dirty="0"/>
              <a:t> </a:t>
            </a:r>
            <a:r>
              <a:rPr lang="en-US" b="1" dirty="0" err="1"/>
              <a:t>funcționează</a:t>
            </a:r>
            <a:r>
              <a:rPr lang="en-US" b="1" dirty="0"/>
              <a:t> </a:t>
            </a:r>
            <a:r>
              <a:rPr lang="en-US" b="1" dirty="0" err="1"/>
              <a:t>împreună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structura</a:t>
            </a:r>
            <a:r>
              <a:rPr lang="en-US" b="1" dirty="0"/>
              <a:t> </a:t>
            </a:r>
            <a:r>
              <a:rPr lang="en-US" b="1" dirty="0" err="1"/>
              <a:t>proiectul</a:t>
            </a:r>
            <a:r>
              <a:rPr lang="en-US" b="1" dirty="0"/>
              <a:t> de la general la </a:t>
            </a:r>
            <a:r>
              <a:rPr lang="en-US" b="1" dirty="0" err="1"/>
              <a:t>detaliu</a:t>
            </a:r>
            <a:r>
              <a:rPr lang="en-US" b="1" dirty="0"/>
              <a:t>, </a:t>
            </a:r>
            <a:r>
              <a:rPr lang="en-US" b="1" dirty="0" err="1"/>
              <a:t>astfel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Proiectele</a:t>
            </a:r>
            <a:r>
              <a:rPr lang="en-US" b="1" dirty="0"/>
              <a:t> sunt </a:t>
            </a:r>
            <a:r>
              <a:rPr lang="en-US" b="1" dirty="0" err="1"/>
              <a:t>împărțite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epicuri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organiza</a:t>
            </a:r>
            <a:r>
              <a:rPr lang="en-US" b="1" dirty="0"/>
              <a:t> </a:t>
            </a:r>
            <a:r>
              <a:rPr lang="en-US" b="1" dirty="0" err="1"/>
              <a:t>sarcinile</a:t>
            </a:r>
            <a:r>
              <a:rPr lang="en-US" b="1" dirty="0"/>
              <a:t> </a:t>
            </a:r>
            <a:r>
              <a:rPr lang="en-US" b="1" dirty="0" err="1"/>
              <a:t>mari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Epicurile</a:t>
            </a:r>
            <a:r>
              <a:rPr lang="en-US" b="1" dirty="0"/>
              <a:t> </a:t>
            </a:r>
            <a:r>
              <a:rPr lang="en-US" b="1" dirty="0" err="1"/>
              <a:t>conțin</a:t>
            </a:r>
            <a:r>
              <a:rPr lang="en-US" b="1" dirty="0"/>
              <a:t> task-</a:t>
            </a:r>
            <a:r>
              <a:rPr lang="en-US" b="1" dirty="0" err="1"/>
              <a:t>uri</a:t>
            </a:r>
            <a:r>
              <a:rPr lang="en-US" b="1" dirty="0"/>
              <a:t>, care sunt </a:t>
            </a:r>
            <a:r>
              <a:rPr lang="en-US" b="1" dirty="0" err="1"/>
              <a:t>sarcinile</a:t>
            </a:r>
            <a:r>
              <a:rPr lang="en-US" b="1" dirty="0"/>
              <a:t> </a:t>
            </a:r>
            <a:r>
              <a:rPr lang="en-US" b="1" dirty="0" err="1"/>
              <a:t>principale</a:t>
            </a:r>
            <a:r>
              <a:rPr lang="en-US" b="1" dirty="0"/>
              <a:t> ale </a:t>
            </a:r>
            <a:r>
              <a:rPr lang="en-US" b="1" dirty="0" err="1"/>
              <a:t>echipei</a:t>
            </a:r>
            <a:r>
              <a:rPr lang="en-US" b="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Task-urile pot fi </a:t>
            </a:r>
            <a:r>
              <a:rPr lang="en-US" b="1" dirty="0" err="1"/>
              <a:t>subdivizate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subtasks </a:t>
            </a:r>
            <a:r>
              <a:rPr lang="en-US" b="1" dirty="0" err="1"/>
              <a:t>pentru</a:t>
            </a:r>
            <a:r>
              <a:rPr lang="en-US" b="1" dirty="0"/>
              <a:t> a </a:t>
            </a:r>
            <a:r>
              <a:rPr lang="en-US" b="1" dirty="0" err="1"/>
              <a:t>detalia</a:t>
            </a:r>
            <a:r>
              <a:rPr lang="en-US" b="1" dirty="0"/>
              <a:t> </a:t>
            </a:r>
            <a:r>
              <a:rPr lang="en-US" b="1" dirty="0" err="1"/>
              <a:t>fiecare</a:t>
            </a:r>
            <a:r>
              <a:rPr lang="en-US" b="1" dirty="0"/>
              <a:t> </a:t>
            </a:r>
            <a:r>
              <a:rPr lang="en-US" b="1" dirty="0" err="1"/>
              <a:t>etapă</a:t>
            </a:r>
            <a:r>
              <a:rPr lang="en-US" b="1" dirty="0"/>
              <a:t>, </a:t>
            </a:r>
            <a:r>
              <a:rPr lang="en-US" b="1" dirty="0" err="1"/>
              <a:t>astfel</a:t>
            </a:r>
            <a:r>
              <a:rPr lang="en-US" b="1" dirty="0"/>
              <a:t> </a:t>
            </a:r>
            <a:r>
              <a:rPr lang="en-US" b="1" dirty="0" err="1"/>
              <a:t>încât</a:t>
            </a:r>
            <a:r>
              <a:rPr lang="en-US" b="1" dirty="0"/>
              <a:t> </a:t>
            </a:r>
            <a:r>
              <a:rPr lang="en-US" b="1" dirty="0" err="1"/>
              <a:t>fiecare</a:t>
            </a:r>
            <a:r>
              <a:rPr lang="en-US" b="1" dirty="0"/>
              <a:t> </a:t>
            </a:r>
            <a:r>
              <a:rPr lang="en-US" b="1" dirty="0" err="1"/>
              <a:t>membru</a:t>
            </a:r>
            <a:r>
              <a:rPr lang="en-US" b="1" dirty="0"/>
              <a:t> al </a:t>
            </a:r>
            <a:r>
              <a:rPr lang="en-US" b="1" dirty="0" err="1"/>
              <a:t>echipei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știe</a:t>
            </a:r>
            <a:r>
              <a:rPr lang="en-US" b="1" dirty="0"/>
              <a:t> exact </a:t>
            </a:r>
            <a:r>
              <a:rPr lang="en-US" b="1" dirty="0" err="1"/>
              <a:t>ce</a:t>
            </a:r>
            <a:r>
              <a:rPr lang="en-US" b="1" dirty="0"/>
              <a:t> are de </a:t>
            </a:r>
            <a:r>
              <a:rPr lang="en-US" b="1" dirty="0" err="1"/>
              <a:t>făcut</a:t>
            </a:r>
            <a:r>
              <a:rPr lang="en-US" b="1" dirty="0"/>
              <a:t> la un moment dat.</a:t>
            </a:r>
            <a:endParaRPr lang="ro-RO" b="1" dirty="0"/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r>
              <a:rPr lang="en-US" b="1" dirty="0" err="1"/>
              <a:t>Această</a:t>
            </a:r>
            <a:r>
              <a:rPr lang="en-US" b="1" dirty="0"/>
              <a:t> </a:t>
            </a:r>
            <a:r>
              <a:rPr lang="en-US" b="1" dirty="0" err="1"/>
              <a:t>structură</a:t>
            </a:r>
            <a:r>
              <a:rPr lang="en-US" b="1" dirty="0"/>
              <a:t> </a:t>
            </a:r>
            <a:r>
              <a:rPr lang="en-US" b="1" dirty="0" err="1"/>
              <a:t>permite</a:t>
            </a:r>
            <a:r>
              <a:rPr lang="en-US" b="1" dirty="0"/>
              <a:t> </a:t>
            </a:r>
            <a:r>
              <a:rPr lang="en-US" b="1" dirty="0" err="1"/>
              <a:t>echipei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mențină</a:t>
            </a:r>
            <a:r>
              <a:rPr lang="en-US" b="1" dirty="0"/>
              <a:t> o </a:t>
            </a:r>
            <a:r>
              <a:rPr lang="en-US" b="1" dirty="0" err="1"/>
              <a:t>vedere</a:t>
            </a:r>
            <a:r>
              <a:rPr lang="en-US" b="1" dirty="0"/>
              <a:t> </a:t>
            </a:r>
            <a:r>
              <a:rPr lang="en-US" b="1" dirty="0" err="1"/>
              <a:t>clară</a:t>
            </a:r>
            <a:r>
              <a:rPr lang="en-US" b="1" dirty="0"/>
              <a:t> </a:t>
            </a:r>
            <a:r>
              <a:rPr lang="en-US" b="1" dirty="0" err="1"/>
              <a:t>asupra</a:t>
            </a:r>
            <a:r>
              <a:rPr lang="en-US" b="1" dirty="0"/>
              <a:t> </a:t>
            </a:r>
            <a:r>
              <a:rPr lang="en-US" b="1" dirty="0" err="1"/>
              <a:t>progresului</a:t>
            </a:r>
            <a:r>
              <a:rPr lang="en-US" b="1" dirty="0"/>
              <a:t> </a:t>
            </a:r>
            <a:r>
              <a:rPr lang="en-US" b="1" dirty="0" err="1"/>
              <a:t>și</a:t>
            </a:r>
            <a:r>
              <a:rPr lang="en-US" b="1" dirty="0"/>
              <a:t> </a:t>
            </a:r>
            <a:r>
              <a:rPr lang="en-US" b="1" dirty="0" err="1"/>
              <a:t>să</a:t>
            </a:r>
            <a:r>
              <a:rPr lang="en-US" b="1" dirty="0"/>
              <a:t> </a:t>
            </a:r>
            <a:r>
              <a:rPr lang="en-US" b="1" dirty="0" err="1"/>
              <a:t>urmărească</a:t>
            </a:r>
            <a:r>
              <a:rPr lang="en-US" b="1" dirty="0"/>
              <a:t> exact </a:t>
            </a:r>
            <a:r>
              <a:rPr lang="en-US" b="1" dirty="0" err="1"/>
              <a:t>unde</a:t>
            </a:r>
            <a:r>
              <a:rPr lang="en-US" b="1" dirty="0"/>
              <a:t> se </a:t>
            </a:r>
            <a:r>
              <a:rPr lang="en-US" b="1" dirty="0" err="1"/>
              <a:t>află</a:t>
            </a:r>
            <a:r>
              <a:rPr lang="en-US" b="1" dirty="0"/>
              <a:t> </a:t>
            </a:r>
            <a:r>
              <a:rPr lang="en-US" b="1" dirty="0" err="1"/>
              <a:t>fiecare</a:t>
            </a:r>
            <a:r>
              <a:rPr lang="en-US" b="1" dirty="0"/>
              <a:t> element din </a:t>
            </a:r>
            <a:r>
              <a:rPr lang="en-US" b="1" dirty="0" err="1"/>
              <a:t>proiect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67501-776F-4EFF-BE65-664BB46045B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02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1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26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3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7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62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9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6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57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4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67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75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70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 /><Relationship Id="rId3" Type="http://schemas.openxmlformats.org/officeDocument/2006/relationships/image" Target="../media/image3.png" /><Relationship Id="rId7" Type="http://schemas.openxmlformats.org/officeDocument/2006/relationships/diagramQuickStyle" Target="../diagrams/quickStyle1.xml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diagramLayout" Target="../diagrams/layout1.xml" /><Relationship Id="rId5" Type="http://schemas.openxmlformats.org/officeDocument/2006/relationships/diagramData" Target="../diagrams/data1.xml" /><Relationship Id="rId4" Type="http://schemas.openxmlformats.org/officeDocument/2006/relationships/image" Target="../media/image4.png" /><Relationship Id="rId9" Type="http://schemas.microsoft.com/office/2007/relationships/diagramDrawing" Target="../diagrams/drawing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 /><Relationship Id="rId7" Type="http://schemas.microsoft.com/office/2007/relationships/diagramDrawing" Target="../diagrams/drawing2.xml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2.xml" /><Relationship Id="rId5" Type="http://schemas.openxmlformats.org/officeDocument/2006/relationships/diagramQuickStyle" Target="../diagrams/quickStyle2.xml" /><Relationship Id="rId4" Type="http://schemas.openxmlformats.org/officeDocument/2006/relationships/diagramLayout" Target="../diagrams/layout2.xml" 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 /><Relationship Id="rId3" Type="http://schemas.openxmlformats.org/officeDocument/2006/relationships/image" Target="../media/image5.png" /><Relationship Id="rId7" Type="http://schemas.openxmlformats.org/officeDocument/2006/relationships/diagramColors" Target="../diagrams/colors3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3.xml" /><Relationship Id="rId5" Type="http://schemas.openxmlformats.org/officeDocument/2006/relationships/diagramLayout" Target="../diagrams/layout3.xml" /><Relationship Id="rId4" Type="http://schemas.openxmlformats.org/officeDocument/2006/relationships/diagramData" Target="../diagrams/data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ubtiricaflorin29.atlassian.net/jira/software/projects/KAN/boards/1" TargetMode="Externa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 /><Relationship Id="rId7" Type="http://schemas.microsoft.com/office/2007/relationships/diagramDrawing" Target="../diagrams/drawing5.xml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5.xml" /><Relationship Id="rId5" Type="http://schemas.openxmlformats.org/officeDocument/2006/relationships/diagramQuickStyle" Target="../diagrams/quickStyle5.xml" /><Relationship Id="rId4" Type="http://schemas.openxmlformats.org/officeDocument/2006/relationships/diagramLayout" Target="../diagrams/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AD0A75A3-DB1A-930D-BA19-10A7B70E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724" b="18027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C0ACB-1B37-8840-6467-477C3FE96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09" y="1909631"/>
            <a:ext cx="11558018" cy="3969960"/>
          </a:xfrm>
        </p:spPr>
        <p:txBody>
          <a:bodyPr anchor="t">
            <a:normAutofit/>
          </a:bodyPr>
          <a:lstStyle/>
          <a:p>
            <a:br>
              <a:rPr lang="ro-RO" sz="6600" dirty="0"/>
            </a:br>
            <a:r>
              <a:rPr lang="en-US" sz="2800" dirty="0" err="1"/>
              <a:t>Introducere</a:t>
            </a:r>
            <a:r>
              <a:rPr lang="en-US" sz="2800" dirty="0"/>
              <a:t> </a:t>
            </a:r>
            <a:r>
              <a:rPr lang="ro-RO" sz="2800" dirty="0"/>
              <a:t>în</a:t>
            </a:r>
            <a:r>
              <a:rPr lang="en-US" sz="2800" dirty="0"/>
              <a:t> Jira </a:t>
            </a:r>
            <a:r>
              <a:rPr lang="en-US" sz="2800" dirty="0" err="1"/>
              <a:t>pentru</a:t>
            </a:r>
            <a:r>
              <a:rPr lang="en-US" sz="2800" dirty="0"/>
              <a:t> Project Planning </a:t>
            </a:r>
            <a:r>
              <a:rPr lang="en-US" sz="2800" dirty="0" err="1"/>
              <a:t>și</a:t>
            </a:r>
            <a:r>
              <a:rPr lang="en-US" sz="2800" dirty="0"/>
              <a:t> Resource Management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94572-A7F9-2F31-B2A3-5253560EB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08" y="4688089"/>
            <a:ext cx="4381634" cy="1661821"/>
          </a:xfrm>
        </p:spPr>
        <p:txBody>
          <a:bodyPr anchor="b">
            <a:normAutofit/>
          </a:bodyPr>
          <a:lstStyle/>
          <a:p>
            <a:pPr algn="l"/>
            <a:r>
              <a:rPr lang="ro-RO" sz="2400" dirty="0"/>
              <a:t>Prezentare realizată de</a:t>
            </a:r>
            <a:r>
              <a:rPr lang="en-US" sz="2400" dirty="0"/>
              <a:t>:</a:t>
            </a:r>
            <a:endParaRPr lang="ro-RO" sz="2400" dirty="0"/>
          </a:p>
          <a:p>
            <a:pPr algn="l"/>
            <a:r>
              <a:rPr lang="en-US" sz="2400" dirty="0"/>
              <a:t>	</a:t>
            </a:r>
            <a:r>
              <a:rPr lang="ro-RO" sz="2400" dirty="0"/>
              <a:t>Mihai-Costel Popescu</a:t>
            </a:r>
          </a:p>
          <a:p>
            <a:pPr algn="l"/>
            <a:r>
              <a:rPr lang="en-US" sz="2400" dirty="0"/>
              <a:t>	</a:t>
            </a:r>
            <a:r>
              <a:rPr lang="ro-RO" sz="2400" dirty="0"/>
              <a:t>Florin-Ioan Subțirică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BF816-B3F7-1ECD-E959-1DB27001D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08" y="1318580"/>
            <a:ext cx="3014337" cy="118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82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5" name="Rectangle 1054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9C917-5E2F-2A24-2899-5FC1D004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59"/>
            <a:ext cx="5020056" cy="2369713"/>
          </a:xfrm>
        </p:spPr>
        <p:txBody>
          <a:bodyPr anchor="t">
            <a:normAutofit/>
          </a:bodyPr>
          <a:lstStyle/>
          <a:p>
            <a:r>
              <a:rPr lang="en-US" sz="4400" dirty="0"/>
              <a:t>Ce </a:t>
            </a:r>
            <a:r>
              <a:rPr lang="en-US" sz="4400" dirty="0" err="1"/>
              <a:t>este</a:t>
            </a:r>
            <a:r>
              <a:rPr lang="en-US" sz="4400" dirty="0"/>
              <a:t> Jira?</a:t>
            </a:r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CC662F47-717E-C0F6-E41D-921531825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9747" y="1906634"/>
            <a:ext cx="6337023" cy="401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ow Atlassian's design teams go from idea to execution | Inside Design Blog">
            <a:extLst>
              <a:ext uri="{FF2B5EF4-FFF2-40B4-BE49-F238E27FC236}">
                <a16:creationId xmlns:a16="http://schemas.microsoft.com/office/drawing/2014/main" id="{026C90C6-144F-0618-A70F-DD85F6AB0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40" b="14347"/>
          <a:stretch/>
        </p:blipFill>
        <p:spPr bwMode="auto">
          <a:xfrm>
            <a:off x="6983364" y="508091"/>
            <a:ext cx="4369560" cy="279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Rectangle 1058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709DDBF-7307-6771-D4DB-9B136D71F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3151334"/>
              </p:ext>
            </p:extLst>
          </p:nvPr>
        </p:nvGraphicFramePr>
        <p:xfrm>
          <a:off x="6756517" y="3780775"/>
          <a:ext cx="4985339" cy="25691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45314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8FC92-C893-43E9-5544-C9F7D21A7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6160"/>
            <a:ext cx="11155680" cy="1463040"/>
          </a:xfrm>
        </p:spPr>
        <p:txBody>
          <a:bodyPr>
            <a:normAutofit/>
          </a:bodyPr>
          <a:lstStyle/>
          <a:p>
            <a:r>
              <a:rPr lang="en-US" sz="4400" dirty="0" err="1"/>
              <a:t>Utilizările</a:t>
            </a:r>
            <a:r>
              <a:rPr lang="en-US" sz="4400" dirty="0"/>
              <a:t> Jira </a:t>
            </a:r>
            <a:r>
              <a:rPr lang="en-US" sz="4400" dirty="0" err="1"/>
              <a:t>în</a:t>
            </a:r>
            <a:r>
              <a:rPr lang="en-US" sz="4400" dirty="0"/>
              <a:t> </a:t>
            </a:r>
            <a:r>
              <a:rPr lang="en-US" sz="4400" dirty="0" err="1"/>
              <a:t>Managementul</a:t>
            </a:r>
            <a:r>
              <a:rPr lang="en-US" sz="4400" dirty="0"/>
              <a:t> </a:t>
            </a:r>
            <a:r>
              <a:rPr lang="en-US" sz="4400" dirty="0" err="1"/>
              <a:t>Proiectelor</a:t>
            </a:r>
            <a:endParaRPr lang="en-US" sz="4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Rectangle 2">
            <a:extLst>
              <a:ext uri="{FF2B5EF4-FFF2-40B4-BE49-F238E27FC236}">
                <a16:creationId xmlns:a16="http://schemas.microsoft.com/office/drawing/2014/main" id="{A0BE241D-68B2-7BE4-2084-F370483CF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5294408"/>
              </p:ext>
            </p:extLst>
          </p:nvPr>
        </p:nvGraphicFramePr>
        <p:xfrm>
          <a:off x="528320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27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CD393-A44B-1BCB-0C10-AB99802B5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60"/>
            <a:ext cx="6300216" cy="132290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 err="1"/>
              <a:t>Structura</a:t>
            </a:r>
            <a:r>
              <a:rPr lang="en-US" sz="4400" dirty="0"/>
              <a:t> de </a:t>
            </a:r>
            <a:r>
              <a:rPr lang="en-US" sz="4400" dirty="0" err="1"/>
              <a:t>bază</a:t>
            </a:r>
            <a:r>
              <a:rPr lang="en-US" sz="4400" dirty="0"/>
              <a:t> </a:t>
            </a:r>
            <a:r>
              <a:rPr lang="en-US" sz="4400" dirty="0" err="1"/>
              <a:t>în</a:t>
            </a:r>
            <a:r>
              <a:rPr lang="en-US" sz="4400" dirty="0"/>
              <a:t> Jira</a:t>
            </a:r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5" name="Picture 3" descr="Understanding Jira: Demystifying Epics, Stories, Themes, and Initiatives |  by Jack | Medium">
            <a:extLst>
              <a:ext uri="{FF2B5EF4-FFF2-40B4-BE49-F238E27FC236}">
                <a16:creationId xmlns:a16="http://schemas.microsoft.com/office/drawing/2014/main" id="{45D0748E-25ED-862E-A171-756B954CA1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799099"/>
            <a:ext cx="7074728" cy="351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12C2162-5042-EA50-0CA3-6B2EC7D6F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940759"/>
              </p:ext>
            </p:extLst>
          </p:nvPr>
        </p:nvGraphicFramePr>
        <p:xfrm>
          <a:off x="7507224" y="1088204"/>
          <a:ext cx="416052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0485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0884CB-02DD-CABD-D394-E47AF55C0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2901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Demonstrație</a:t>
            </a:r>
            <a:r>
              <a:rPr lang="en-US" sz="6600" dirty="0"/>
              <a:t> </a:t>
            </a:r>
            <a:r>
              <a:rPr lang="en-US" sz="6600"/>
              <a:t>practică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78D3D-A79B-9082-64E2-7A08C72FD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854298"/>
            <a:ext cx="6141545" cy="1352181"/>
          </a:xfrm>
        </p:spPr>
        <p:txBody>
          <a:bodyPr anchor="t">
            <a:normAutofit/>
          </a:bodyPr>
          <a:lstStyle/>
          <a:p>
            <a:r>
              <a:rPr lang="en-US" dirty="0">
                <a:hlinkClick r:id="rId2"/>
              </a:rPr>
              <a:t>https://subtiricaflorin29.atlassian.net/jira/software/projects/KAN/boards/1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EBD83C-D653-7B6E-791C-91DC49F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8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A3B297-9683-4E38-89FA-062C53E13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4249E-966E-7D44-A288-393DE526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26" y="976160"/>
            <a:ext cx="8687143" cy="1463040"/>
          </a:xfrm>
        </p:spPr>
        <p:txBody>
          <a:bodyPr>
            <a:normAutofit/>
          </a:bodyPr>
          <a:lstStyle/>
          <a:p>
            <a:r>
              <a:rPr lang="en-US" sz="4400"/>
              <a:t>Avantajele și provocările utilizării Jira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74692-AE31-4A00-B5F9-994E8D519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868680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0A57C5F-472D-C974-CE59-E84DAE769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513981"/>
              </p:ext>
            </p:extLst>
          </p:nvPr>
        </p:nvGraphicFramePr>
        <p:xfrm>
          <a:off x="517526" y="2578608"/>
          <a:ext cx="868680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4721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7CCC7-5D5E-0AD8-D774-362222537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7" y="976160"/>
            <a:ext cx="6300216" cy="1322903"/>
          </a:xfrm>
        </p:spPr>
        <p:txBody>
          <a:bodyPr>
            <a:normAutofit/>
          </a:bodyPr>
          <a:lstStyle/>
          <a:p>
            <a:r>
              <a:rPr lang="en-US" sz="4400"/>
              <a:t>Concluzii și </a:t>
            </a:r>
            <a:r>
              <a:rPr lang="ro-RO" sz="4400"/>
              <a:t>î</a:t>
            </a:r>
            <a:r>
              <a:rPr lang="en-US" sz="4400"/>
              <a:t>ntrebări</a:t>
            </a:r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3" name="Picture 3" descr="Atlassian Apps: An Overview - Automation Consultants">
            <a:extLst>
              <a:ext uri="{FF2B5EF4-FFF2-40B4-BE49-F238E27FC236}">
                <a16:creationId xmlns:a16="http://schemas.microsoft.com/office/drawing/2014/main" id="{97836472-0BB7-FAF6-04B6-A57897B22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692983"/>
            <a:ext cx="6281928" cy="3653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7F535B85-AEC0-473E-F2D0-67F0BE359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7365019"/>
              </p:ext>
            </p:extLst>
          </p:nvPr>
        </p:nvGraphicFramePr>
        <p:xfrm>
          <a:off x="7507224" y="1088204"/>
          <a:ext cx="416052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3333666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5C5338-F67C-4EA8-8FA4-3E741A0E845E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944</Words>
  <Application>Microsoft Office PowerPoint</Application>
  <PresentationFormat>Widescreen</PresentationFormat>
  <Paragraphs>62</Paragraphs>
  <Slides>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GestaltVTI</vt:lpstr>
      <vt:lpstr> Introducere în Jira pentru Project Planning și Resource Management</vt:lpstr>
      <vt:lpstr>Ce este Jira?</vt:lpstr>
      <vt:lpstr>Utilizările Jira în Managementul Proiectelor</vt:lpstr>
      <vt:lpstr>Structura de bază în Jira</vt:lpstr>
      <vt:lpstr>Demonstrație practică</vt:lpstr>
      <vt:lpstr>Avantajele și provocările utilizării Jira</vt:lpstr>
      <vt:lpstr>Concluzii și întrebări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Introducere în Jira pentru Project Planning și Resource Management</dc:title>
  <dc:creator>Florin-Ioan SUBŢIRICĂ (123781)</dc:creator>
  <cp:lastModifiedBy>Florin-Ioan SUBŢIRICĂ (123781)</cp:lastModifiedBy>
  <cp:revision>3</cp:revision>
  <dcterms:created xsi:type="dcterms:W3CDTF">2024-10-30T18:34:46Z</dcterms:created>
  <dcterms:modified xsi:type="dcterms:W3CDTF">2024-10-31T06:07:50Z</dcterms:modified>
</cp:coreProperties>
</file>